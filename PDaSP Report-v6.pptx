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3" r:id="rId6"/>
    <p:sldId id="264" r:id="rId7"/>
    <p:sldId id="282" r:id="rId8"/>
    <p:sldId id="269" r:id="rId9"/>
    <p:sldId id="270" r:id="rId10"/>
    <p:sldId id="271" r:id="rId11"/>
    <p:sldId id="272" r:id="rId12"/>
    <p:sldId id="273" r:id="rId13"/>
    <p:sldId id="275" r:id="rId14"/>
    <p:sldId id="277" r:id="rId15"/>
    <p:sldId id="278" r:id="rId16"/>
    <p:sldId id="279" r:id="rId17"/>
    <p:sldId id="280" r:id="rId18"/>
    <p:sldId id="281" r:id="rId1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B4191D-7049-4724-A118-5B0BFC928031}">
  <a:tblStyle styleId="{58B4191D-7049-4724-A118-5B0BFC9280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396" autoAdjust="0"/>
  </p:normalViewPr>
  <p:slideViewPr>
    <p:cSldViewPr snapToGrid="0">
      <p:cViewPr varScale="1">
        <p:scale>
          <a:sx n="85" d="100"/>
          <a:sy n="85" d="100"/>
        </p:scale>
        <p:origin x="74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, Song" userId="2392c070-a837-43e0-8f64-572402ce3fd3" providerId="ADAL" clId="{6C7D8E26-5AFD-43F2-97AB-96732AD9BBC5}"/>
    <pc:docChg chg="modSld">
      <pc:chgData name="Han, Song" userId="2392c070-a837-43e0-8f64-572402ce3fd3" providerId="ADAL" clId="{6C7D8E26-5AFD-43F2-97AB-96732AD9BBC5}" dt="2026-03-15T19:49:08.021" v="0" actId="1036"/>
      <pc:docMkLst>
        <pc:docMk/>
      </pc:docMkLst>
      <pc:sldChg chg="modSp mod">
        <pc:chgData name="Han, Song" userId="2392c070-a837-43e0-8f64-572402ce3fd3" providerId="ADAL" clId="{6C7D8E26-5AFD-43F2-97AB-96732AD9BBC5}" dt="2026-03-15T19:49:08.021" v="0" actId="1036"/>
        <pc:sldMkLst>
          <pc:docMk/>
          <pc:sldMk cId="0" sldId="260"/>
        </pc:sldMkLst>
        <pc:picChg chg="mod">
          <ac:chgData name="Han, Song" userId="2392c070-a837-43e0-8f64-572402ce3fd3" providerId="ADAL" clId="{6C7D8E26-5AFD-43F2-97AB-96732AD9BBC5}" dt="2026-03-15T19:49:08.021" v="0" actId="1036"/>
          <ac:picMkLst>
            <pc:docMk/>
            <pc:sldMk cId="0" sldId="260"/>
            <ac:picMk id="5" creationId="{4F31D1A9-49D0-3E9C-0904-7F98233DA3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a983efe3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a983efe3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a983efe33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a983efe33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a983efe33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a983efe33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a491b78a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a491b78a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Real-world driving data contains </a:t>
            </a:r>
            <a:r>
              <a:rPr lang="en-US" sz="1600" u="sng" dirty="0">
                <a:solidFill>
                  <a:schemeClr val="dk1"/>
                </a:solidFill>
              </a:rPr>
              <a:t>highly sensitive location</a:t>
            </a:r>
            <a:r>
              <a:rPr lang="en-US" sz="1600" dirty="0">
                <a:solidFill>
                  <a:schemeClr val="dk1"/>
                </a:solidFill>
              </a:rPr>
              <a:t> and </a:t>
            </a:r>
            <a:r>
              <a:rPr lang="en-US" sz="1600" u="sng" dirty="0">
                <a:solidFill>
                  <a:schemeClr val="dk1"/>
                </a:solidFill>
              </a:rPr>
              <a:t>behavioral information</a:t>
            </a:r>
            <a:endParaRPr lang="en-US"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Resource-efficient generating synthetic </a:t>
            </a:r>
            <a:r>
              <a:rPr lang="en-US" sz="1600" b="1" u="sng" dirty="0">
                <a:solidFill>
                  <a:schemeClr val="dk1"/>
                </a:solidFill>
              </a:rPr>
              <a:t>Naturalistic</a:t>
            </a:r>
            <a:r>
              <a:rPr lang="en-US" sz="1600" dirty="0">
                <a:solidFill>
                  <a:schemeClr val="dk1"/>
                </a:solidFill>
              </a:rPr>
              <a:t> trajectories is essential </a:t>
            </a:r>
            <a:r>
              <a:rPr lang="en-US" sz="1400" b="1" dirty="0">
                <a:solidFill>
                  <a:schemeClr val="dk1"/>
                </a:solidFill>
              </a:rPr>
              <a:t>(DP-protected!)</a:t>
            </a:r>
            <a:r>
              <a:rPr lang="en-US" sz="1600" dirty="0">
                <a:solidFill>
                  <a:schemeClr val="dk1"/>
                </a:solidFill>
              </a:rPr>
              <a:t> </a:t>
            </a: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 dirty="0">
                <a:solidFill>
                  <a:schemeClr val="dk1"/>
                </a:solidFill>
              </a:rPr>
              <a:t>Challenges </a:t>
            </a:r>
            <a:r>
              <a:rPr lang="en-US" sz="1600" dirty="0">
                <a:solidFill>
                  <a:schemeClr val="dk1"/>
                </a:solidFill>
              </a:rPr>
              <a:t>are:</a:t>
            </a:r>
          </a:p>
          <a:p>
            <a:pPr marL="91440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i="1" dirty="0">
                <a:solidFill>
                  <a:schemeClr val="dk1"/>
                </a:solidFill>
              </a:rPr>
              <a:t>Utility Loss Under DP: </a:t>
            </a:r>
            <a:r>
              <a:rPr lang="en-US" i="1" dirty="0">
                <a:solidFill>
                  <a:schemeClr val="dk1"/>
                </a:solidFill>
              </a:rPr>
              <a:t> 1) DP noise distorts </a:t>
            </a:r>
            <a:r>
              <a:rPr lang="en-US" i="1" u="sng" dirty="0">
                <a:solidFill>
                  <a:schemeClr val="dk1"/>
                </a:solidFill>
              </a:rPr>
              <a:t>rare </a:t>
            </a:r>
            <a:r>
              <a:rPr lang="en-US" i="1" dirty="0">
                <a:solidFill>
                  <a:schemeClr val="dk1"/>
                </a:solidFill>
              </a:rPr>
              <a:t>events </a:t>
            </a:r>
            <a:r>
              <a:rPr lang="en-US" sz="1200" b="1" i="1" dirty="0">
                <a:solidFill>
                  <a:schemeClr val="dk1"/>
                </a:solidFill>
              </a:rPr>
              <a:t>(</a:t>
            </a:r>
            <a:r>
              <a:rPr lang="en-US" sz="1200" b="1" i="1" u="sng" dirty="0">
                <a:solidFill>
                  <a:schemeClr val="dk1"/>
                </a:solidFill>
              </a:rPr>
              <a:t>hazardous events?!</a:t>
            </a:r>
            <a:r>
              <a:rPr lang="en-US" sz="1200" b="1" i="1" dirty="0">
                <a:solidFill>
                  <a:schemeClr val="dk1"/>
                </a:solidFill>
              </a:rPr>
              <a:t>) 	</a:t>
            </a:r>
            <a:r>
              <a:rPr lang="en-US" i="1" dirty="0">
                <a:solidFill>
                  <a:schemeClr val="dk1"/>
                </a:solidFill>
              </a:rPr>
              <a:t>		</a:t>
            </a:r>
          </a:p>
          <a:p>
            <a:pPr marL="9144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chemeClr val="dk1"/>
                </a:solidFill>
              </a:rPr>
              <a:t>                                  </a:t>
            </a:r>
            <a:r>
              <a:rPr lang="en-US" sz="1100" i="1" dirty="0">
                <a:solidFill>
                  <a:schemeClr val="dk1"/>
                </a:solidFill>
              </a:rPr>
              <a:t>    </a:t>
            </a:r>
            <a:r>
              <a:rPr lang="en-US" sz="1400" i="1" dirty="0">
                <a:solidFill>
                  <a:schemeClr val="dk1"/>
                </a:solidFill>
              </a:rPr>
              <a:t>   2) </a:t>
            </a:r>
            <a:r>
              <a:rPr lang="en-US" sz="1400" i="1" u="sng" dirty="0">
                <a:solidFill>
                  <a:schemeClr val="dk1"/>
                </a:solidFill>
              </a:rPr>
              <a:t>DP-SGD</a:t>
            </a:r>
            <a:r>
              <a:rPr lang="en-US" sz="1400" i="1" dirty="0">
                <a:solidFill>
                  <a:schemeClr val="dk1"/>
                </a:solidFill>
              </a:rPr>
              <a:t> (standard tool for AI Privacy) is slow due to </a:t>
            </a:r>
            <a:r>
              <a:rPr lang="en-US" sz="1200" b="1" i="1" dirty="0">
                <a:solidFill>
                  <a:schemeClr val="dk1"/>
                </a:solidFill>
              </a:rPr>
              <a:t>(suboptimal?!)</a:t>
            </a:r>
            <a:r>
              <a:rPr lang="en-US" sz="1400" i="1" dirty="0">
                <a:solidFill>
                  <a:schemeClr val="dk1"/>
                </a:solidFill>
              </a:rPr>
              <a:t> </a:t>
            </a:r>
          </a:p>
          <a:p>
            <a:pPr marL="9144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dk1"/>
                </a:solidFill>
              </a:rPr>
              <a:t>                                 </a:t>
            </a:r>
            <a:r>
              <a:rPr lang="en-US" sz="1400" i="1" dirty="0">
                <a:solidFill>
                  <a:schemeClr val="dk1"/>
                </a:solidFill>
              </a:rPr>
              <a:t> noise, clipping, and accounting </a:t>
            </a:r>
            <a:r>
              <a:rPr lang="en-US" sz="1200" b="1" i="1" dirty="0">
                <a:solidFill>
                  <a:schemeClr val="dk1"/>
                </a:solidFill>
              </a:rPr>
              <a:t>(cheap generation is essential!)</a:t>
            </a:r>
            <a:r>
              <a:rPr lang="en-US" sz="1400" i="1" dirty="0">
                <a:solidFill>
                  <a:schemeClr val="dk1"/>
                </a:solidFill>
              </a:rPr>
              <a:t>  </a:t>
            </a:r>
            <a:endParaRPr lang="en-US" i="1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i="1" dirty="0">
                <a:solidFill>
                  <a:schemeClr val="dk1"/>
                </a:solidFill>
              </a:rPr>
              <a:t>Streaming / Incremental Deployment:</a:t>
            </a:r>
            <a:r>
              <a:rPr lang="en-US" i="1" dirty="0">
                <a:solidFill>
                  <a:schemeClr val="dk1"/>
                </a:solidFill>
              </a:rPr>
              <a:t> ITS data arrives continuously; we must</a:t>
            </a:r>
          </a:p>
          <a:p>
            <a:pPr marL="13716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chemeClr val="dk1"/>
                </a:solidFill>
              </a:rPr>
              <a:t>1) Retain </a:t>
            </a:r>
            <a:r>
              <a:rPr lang="en-US" sz="1400" dirty="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quality, diversity, and practical usability of generated outputs, e.g., Diffusion   </a:t>
            </a:r>
          </a:p>
          <a:p>
            <a:pPr marL="13716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  generated trajectories with high </a:t>
            </a:r>
            <a:r>
              <a:rPr lang="en-US" sz="1400" dirty="0">
                <a:solidFill>
                  <a:srgbClr val="040C2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Fréchet Inception Distance (FID)</a:t>
            </a:r>
            <a:r>
              <a:rPr lang="en-US" sz="1400" i="1" dirty="0">
                <a:solidFill>
                  <a:schemeClr val="dk1"/>
                </a:solidFill>
              </a:rPr>
              <a:t> metric</a:t>
            </a:r>
          </a:p>
          <a:p>
            <a:pPr marL="914400" lvl="0" indent="457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chemeClr val="dk1"/>
                </a:solidFill>
              </a:rPr>
              <a:t>2) Formulate and Bound long-term privacy leakage</a:t>
            </a:r>
          </a:p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i="1" dirty="0">
                <a:solidFill>
                  <a:schemeClr val="dk1"/>
                </a:solidFill>
              </a:rPr>
              <a:t>We propose </a:t>
            </a:r>
            <a:r>
              <a:rPr lang="en-US" sz="1600" i="1" dirty="0" err="1">
                <a:solidFill>
                  <a:schemeClr val="dk1"/>
                </a:solidFill>
              </a:rPr>
              <a:t>DPGenTr</a:t>
            </a:r>
            <a:r>
              <a:rPr lang="en-US" sz="1600" i="1" dirty="0">
                <a:solidFill>
                  <a:schemeClr val="dk1"/>
                </a:solidFill>
              </a:rPr>
              <a:t>. Modules to </a:t>
            </a:r>
            <a:r>
              <a:rPr lang="en-US" sz="1600" i="1" u="sng" dirty="0">
                <a:solidFill>
                  <a:schemeClr val="dk1"/>
                </a:solidFill>
              </a:rPr>
              <a:t>build</a:t>
            </a:r>
            <a:r>
              <a:rPr lang="en-US" sz="1600" i="1" dirty="0">
                <a:solidFill>
                  <a:schemeClr val="dk1"/>
                </a:solidFill>
              </a:rPr>
              <a:t> and harmonize:</a:t>
            </a:r>
          </a:p>
          <a:p>
            <a:pPr marL="914400" lvl="1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400" b="1" i="1" dirty="0">
                <a:solidFill>
                  <a:schemeClr val="dk1"/>
                </a:solidFill>
              </a:rPr>
              <a:t>Interface Input:</a:t>
            </a:r>
            <a:r>
              <a:rPr lang="en-US" sz="1400" i="1" dirty="0">
                <a:solidFill>
                  <a:schemeClr val="dk1"/>
                </a:solidFill>
              </a:rPr>
              <a:t> Load application, privacy budget, resources </a:t>
            </a:r>
            <a:r>
              <a:rPr lang="en-US" sz="1200" i="1" dirty="0">
                <a:solidFill>
                  <a:schemeClr val="dk1"/>
                </a:solidFill>
              </a:rPr>
              <a:t>(memory, GPU,..)</a:t>
            </a:r>
            <a:endParaRPr lang="en-US" i="1" dirty="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b="1" i="1" dirty="0">
                <a:solidFill>
                  <a:schemeClr val="dk1"/>
                </a:solidFill>
              </a:rPr>
              <a:t>Adaptive Mechanism Design:  </a:t>
            </a:r>
            <a:r>
              <a:rPr lang="en-US" i="1" u="sng" dirty="0">
                <a:solidFill>
                  <a:schemeClr val="dk1"/>
                </a:solidFill>
              </a:rPr>
              <a:t>Bounding</a:t>
            </a:r>
            <a:r>
              <a:rPr lang="en-US" i="1" dirty="0">
                <a:solidFill>
                  <a:schemeClr val="dk1"/>
                </a:solidFill>
              </a:rPr>
              <a:t> DP Budget in </a:t>
            </a:r>
            <a:r>
              <a:rPr lang="en-US" i="1" u="sng" dirty="0">
                <a:solidFill>
                  <a:schemeClr val="dk1"/>
                </a:solidFill>
              </a:rPr>
              <a:t>Infinite streams</a:t>
            </a:r>
            <a:r>
              <a:rPr lang="en-US" i="1" dirty="0">
                <a:solidFill>
                  <a:schemeClr val="dk1"/>
                </a:solidFill>
              </a:rPr>
              <a:t>, Adaptive Boosting, Optimal DP-SGD gradient sanitization (</a:t>
            </a:r>
            <a:r>
              <a:rPr lang="en-US" i="1" u="sng" dirty="0">
                <a:solidFill>
                  <a:schemeClr val="dk1"/>
                </a:solidFill>
              </a:rPr>
              <a:t>clip, noise, model choice, ..)</a:t>
            </a:r>
            <a:r>
              <a:rPr lang="en-US" i="1" dirty="0">
                <a:solidFill>
                  <a:schemeClr val="dk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f02faeb9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f02faeb9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400"/>
              </a:spcBef>
              <a:spcAft>
                <a:spcPts val="0"/>
              </a:spcAft>
              <a:buSzPts val="1600"/>
              <a:buChar char="●"/>
            </a:pPr>
            <a:r>
              <a:rPr lang="en-US" sz="1200" dirty="0"/>
              <a:t>Extend </a:t>
            </a:r>
            <a:r>
              <a:rPr lang="en-US" sz="1200" b="1" dirty="0"/>
              <a:t>Inf2Guard</a:t>
            </a:r>
            <a:r>
              <a:rPr lang="en-US" sz="1200" dirty="0"/>
              <a:t> [1] to cross-site FL for temporal ITS data</a:t>
            </a: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 sz="1100" dirty="0"/>
              <a:t>Learn </a:t>
            </a:r>
            <a:r>
              <a:rPr lang="en-US" sz="1100" b="1" dirty="0"/>
              <a:t>site-specific privacy-preserving encoders</a:t>
            </a:r>
            <a:r>
              <a:rPr lang="en-US" sz="1100" dirty="0"/>
              <a:t> to avoid server-side data leakage</a:t>
            </a: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 sz="1100" dirty="0"/>
              <a:t>Achieves strong </a:t>
            </a:r>
            <a:r>
              <a:rPr lang="en-US" sz="1100" b="1" dirty="0"/>
              <a:t>utility–privacy tradeoff</a:t>
            </a:r>
            <a:r>
              <a:rPr lang="en-US" sz="1100" dirty="0"/>
              <a:t> with formal guarantees</a:t>
            </a:r>
            <a:endParaRPr lang="en-US" sz="1200" b="1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b="1" dirty="0"/>
              <a:t>Handling Temporal Dependency</a:t>
            </a: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 sz="1100" dirty="0"/>
              <a:t>Apply </a:t>
            </a:r>
            <a:r>
              <a:rPr lang="en-US" sz="1100" b="1" dirty="0"/>
              <a:t>Markov assumption</a:t>
            </a:r>
            <a:r>
              <a:rPr lang="en-US" sz="1100" dirty="0"/>
              <a:t>: future depends only on current state</a:t>
            </a: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 sz="1100" dirty="0"/>
              <a:t>Convert high-dimensional temporal data into lower-dimensional representations</a:t>
            </a: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 sz="1100" dirty="0"/>
              <a:t>Significantly lowers computational cost</a:t>
            </a:r>
            <a:endParaRPr lang="en-US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200" b="1" dirty="0"/>
              <a:t>Task-Agnostic Design</a:t>
            </a: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 sz="1100" dirty="0"/>
              <a:t>Encoder trained on </a:t>
            </a:r>
            <a:r>
              <a:rPr lang="en-US" sz="1100" b="1" dirty="0"/>
              <a:t>raw data only (no labels)</a:t>
            </a: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 sz="1100" dirty="0"/>
              <a:t>Maximize retained information in representations</a:t>
            </a: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 sz="1100" dirty="0"/>
              <a:t>Ensure downstream models achieve comparable performance → preserves utility</a:t>
            </a:r>
            <a:br>
              <a:rPr lang="en-US" sz="1100" dirty="0"/>
            </a:br>
            <a:endParaRPr lang="en-US"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8885710A-1665-E2C6-BC98-5594DDDE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bd18bfaa1_0_11:notes">
            <a:extLst>
              <a:ext uri="{FF2B5EF4-FFF2-40B4-BE49-F238E27FC236}">
                <a16:creationId xmlns:a16="http://schemas.microsoft.com/office/drawing/2014/main" id="{B9816C20-DBE5-BBF0-FE69-96EC18163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bd18bfaa1_0_11:notes">
            <a:extLst>
              <a:ext uri="{FF2B5EF4-FFF2-40B4-BE49-F238E27FC236}">
                <a16:creationId xmlns:a16="http://schemas.microsoft.com/office/drawing/2014/main" id="{3886A463-DED9-DDEB-4988-46492EEDE3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6049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9e3ef921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9e3ef921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chemeClr val="tx1"/>
                </a:solidFill>
              </a:rPr>
              <a:t>PPTs can be task-specific, may not work for each ITS application/data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9e3ef921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9e3ef921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9e3ef921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9e3ef921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bd18bfaa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bd18bfaa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bd18bfaa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bd18bfaa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Relational DB + time sensitive DB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9c46a78f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9c46a78f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 dirty="0">
                <a:solidFill>
                  <a:schemeClr val="tx1"/>
                </a:solidFill>
              </a:rPr>
              <a:t>In-memory TSDB for improved latency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 dirty="0">
                <a:solidFill>
                  <a:schemeClr val="tx1"/>
                </a:solidFill>
              </a:rPr>
              <a:t>Design an in-memory TSDB extension to store most recent data to minimize the disk access</a:t>
            </a:r>
            <a:br>
              <a:rPr lang="en-US" sz="1200" dirty="0">
                <a:solidFill>
                  <a:schemeClr val="tx1"/>
                </a:solidFill>
              </a:rPr>
            </a:br>
            <a:endParaRPr lang="en-US" sz="12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Resource-aware computation model for streamlined analysis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Parallelize the computing tasks and map them into computation topologies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Allocate computing resource among multiple computation topologies to meet their resource and privacy requirements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Adaptive resource partition reconfiguration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Develop partition reconfiguration algorithm(s) to adapt the data sharing tasks’ resource partitions in the presence of network/computing dynamics within bounded time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bd18bfaa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bd18bfaa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bd18bfaa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bd18bfaa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DTU: data, testbed, use case providers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9f02faeb9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9f02faeb9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9f02faeb9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9f02faeb9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9f02faeb9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9f02faeb9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c2smart.engineering.nyu.edu/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depts.washington.edu/pactran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uebiq.com/" TargetMode="External"/><Relationship Id="rId5" Type="http://schemas.openxmlformats.org/officeDocument/2006/relationships/hyperlink" Target="https://www.seattle.gov/transportation/permits-and-services/interactive-maps/traffic-volume-and-crash-data" TargetMode="External"/><Relationship Id="rId4" Type="http://schemas.openxmlformats.org/officeDocument/2006/relationships/hyperlink" Target="https://insight.shrp2nds.us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v2192.host.s.uw.edu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yuan.hong@uconn.edu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hyperlink" Target="https://yhongcs.github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994300"/>
            <a:ext cx="8520600" cy="8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err="1"/>
              <a:t>PDaSP</a:t>
            </a:r>
            <a:r>
              <a:rPr lang="en" sz="2400" dirty="0"/>
              <a:t>: Track 2: A Holistic Privacy Preserving Collaborative Data Sharing System for Intelligent Transportation</a:t>
            </a:r>
            <a:endParaRPr sz="24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295850"/>
            <a:ext cx="8520600" cy="11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 b="1" dirty="0">
                <a:solidFill>
                  <a:schemeClr val="tx1"/>
                </a:solidFill>
              </a:rPr>
              <a:t>Yuan Hong</a:t>
            </a:r>
            <a:r>
              <a:rPr lang="en" sz="5600" dirty="0">
                <a:solidFill>
                  <a:schemeClr val="tx1"/>
                </a:solidFill>
              </a:rPr>
              <a:t> and Song Han (University of Connecticut)</a:t>
            </a:r>
            <a:endParaRPr sz="5600" dirty="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5600" dirty="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 dirty="0">
                <a:solidFill>
                  <a:schemeClr val="tx1"/>
                </a:solidFill>
              </a:rPr>
              <a:t>Jeff Ban and Angela Kitali (University of Washington)</a:t>
            </a:r>
            <a:endParaRPr sz="5600" dirty="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5600" dirty="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 dirty="0" err="1">
                <a:solidFill>
                  <a:schemeClr val="tx1"/>
                </a:solidFill>
              </a:rPr>
              <a:t>Binghui</a:t>
            </a:r>
            <a:r>
              <a:rPr lang="en" sz="5600" dirty="0">
                <a:solidFill>
                  <a:schemeClr val="tx1"/>
                </a:solidFill>
              </a:rPr>
              <a:t> Wang (Illinois Institute of Technology)</a:t>
            </a:r>
            <a:endParaRPr sz="5600" dirty="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5600" dirty="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 dirty="0">
                <a:solidFill>
                  <a:schemeClr val="tx1"/>
                </a:solidFill>
              </a:rPr>
              <a:t>Meisam </a:t>
            </a:r>
            <a:r>
              <a:rPr lang="en" sz="5600" dirty="0" err="1">
                <a:solidFill>
                  <a:schemeClr val="tx1"/>
                </a:solidFill>
              </a:rPr>
              <a:t>Mohammady</a:t>
            </a:r>
            <a:r>
              <a:rPr lang="en" sz="5600" dirty="0">
                <a:solidFill>
                  <a:schemeClr val="tx1"/>
                </a:solidFill>
              </a:rPr>
              <a:t> (Iowa State University)</a:t>
            </a:r>
            <a:endParaRPr sz="5600" dirty="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C1C6DE-DC80-553F-0BEA-2670BCAB8EFF}"/>
              </a:ext>
            </a:extLst>
          </p:cNvPr>
          <p:cNvSpPr txBox="1"/>
          <p:nvPr/>
        </p:nvSpPr>
        <p:spPr>
          <a:xfrm>
            <a:off x="3450538" y="4465761"/>
            <a:ext cx="2242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NSF </a:t>
            </a:r>
            <a:r>
              <a:rPr lang="en-US" sz="1000" dirty="0" err="1"/>
              <a:t>PDaSP</a:t>
            </a:r>
            <a:r>
              <a:rPr lang="en-US" sz="1000" dirty="0"/>
              <a:t> Virtual Kick-off Meeting</a:t>
            </a:r>
          </a:p>
          <a:p>
            <a:pPr algn="ctr"/>
            <a:r>
              <a:rPr lang="en-US" sz="1000" dirty="0"/>
              <a:t>12/04/2025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6C99A-F9EB-1B54-51EF-79FFCFD05A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54CCDD9-1796-1150-0886-5B627171C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82" y="4029132"/>
            <a:ext cx="1679262" cy="1085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78" y="4221990"/>
            <a:ext cx="753591" cy="757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2760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Data in Transportation Systems</a:t>
            </a:r>
            <a:endParaRPr sz="2000"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805411"/>
            <a:ext cx="7117012" cy="38578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sz="1400" b="1" dirty="0">
                <a:solidFill>
                  <a:schemeClr val="tx1"/>
                </a:solidFill>
              </a:rPr>
              <a:t>Transportation Data</a:t>
            </a:r>
            <a:r>
              <a:rPr lang="en-US" sz="1400" dirty="0">
                <a:solidFill>
                  <a:schemeClr val="tx1"/>
                </a:solidFill>
              </a:rPr>
              <a:t>: vehicle/user data, infrastructure data, V2X (vehicle-to-everything) data</a:t>
            </a:r>
          </a:p>
          <a:p>
            <a:pPr lvl="0"/>
            <a:endParaRPr lang="en-US" sz="1400" dirty="0">
              <a:solidFill>
                <a:schemeClr val="tx1"/>
              </a:solidFill>
            </a:endParaRPr>
          </a:p>
          <a:p>
            <a:pPr lvl="0"/>
            <a:r>
              <a:rPr lang="en-US" sz="1400" dirty="0">
                <a:solidFill>
                  <a:schemeClr val="tx1"/>
                </a:solidFill>
              </a:rPr>
              <a:t>Transportation data supports </a:t>
            </a:r>
            <a:r>
              <a:rPr lang="en-US" sz="1400" b="1" dirty="0">
                <a:solidFill>
                  <a:schemeClr val="tx1"/>
                </a:solidFill>
              </a:rPr>
              <a:t>diverse applications</a:t>
            </a:r>
            <a:r>
              <a:rPr lang="en-US" sz="1400" dirty="0">
                <a:solidFill>
                  <a:schemeClr val="tx1"/>
                </a:solidFill>
              </a:rPr>
              <a:t>: </a:t>
            </a: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Traffic flow and travel behavior, traffic state estimation, traffic control and operations, traffic safety and human factor, multimodal mobility systems, planning and travel demand management</a:t>
            </a:r>
            <a:endParaRPr lang="en" sz="1400" dirty="0">
              <a:solidFill>
                <a:schemeClr val="tx1"/>
              </a:solidFill>
            </a:endParaRPr>
          </a:p>
          <a:p>
            <a:endParaRPr lang="en" sz="1400" dirty="0">
              <a:solidFill>
                <a:schemeClr val="tx1"/>
              </a:solidFill>
            </a:endParaRPr>
          </a:p>
          <a:p>
            <a:r>
              <a:rPr lang="en" sz="1400" b="1" dirty="0">
                <a:solidFill>
                  <a:schemeClr val="tx1"/>
                </a:solidFill>
              </a:rPr>
              <a:t>Naturalistic Driving Data</a:t>
            </a:r>
            <a:r>
              <a:rPr lang="en-US" sz="1400" b="1" dirty="0">
                <a:solidFill>
                  <a:schemeClr val="tx1"/>
                </a:solidFill>
              </a:rPr>
              <a:t> (NDD)</a:t>
            </a:r>
            <a:r>
              <a:rPr lang="en-US" sz="1400" dirty="0">
                <a:solidFill>
                  <a:schemeClr val="tx1"/>
                </a:solidFill>
              </a:rPr>
              <a:t>: real-world driving information collected from drivers as they go about their normal daily activities</a:t>
            </a: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Cameras (e.g., road-facing, driver-facing, cabin)</a:t>
            </a: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Accelerometers</a:t>
            </a: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CAN-bus data (e.g., speed, brake use, steering angle)</a:t>
            </a: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Radar/LiDAR</a:t>
            </a: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Environmental sensors (e.g., weather, traffic density)</a:t>
            </a:r>
          </a:p>
          <a:p>
            <a:pPr lvl="1"/>
            <a:endParaRPr lang="en-US" sz="1000" dirty="0">
              <a:solidFill>
                <a:schemeClr val="tx1"/>
              </a:solidFill>
            </a:endParaRP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Can be used for understanding crash causes, modeling driver behavior and attention, testing</a:t>
            </a:r>
          </a:p>
          <a:p>
            <a:pPr marL="596900" lvl="1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	and training autonomous-vehicle algorithms, evaluating advanced driver-assistance systems </a:t>
            </a:r>
          </a:p>
          <a:p>
            <a:pPr marL="596900" lvl="1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	(ADAS), transportation safety policy and infrastructure planning, etc.   </a:t>
            </a:r>
          </a:p>
        </p:txBody>
      </p:sp>
      <p:pic>
        <p:nvPicPr>
          <p:cNvPr id="1026" name="Picture 2" descr="Intelligent Transportation Systems | SWARCO">
            <a:extLst>
              <a:ext uri="{FF2B5EF4-FFF2-40B4-BE49-F238E27FC236}">
                <a16:creationId xmlns:a16="http://schemas.microsoft.com/office/drawing/2014/main" id="{6ED4DAFD-57FB-08E8-44FE-0B5AD8A2D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207" y="3039751"/>
            <a:ext cx="2199093" cy="146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83CEED-B3D6-CD8B-124B-4AA4045432BB}"/>
              </a:ext>
            </a:extLst>
          </p:cNvPr>
          <p:cNvSpPr txBox="1"/>
          <p:nvPr/>
        </p:nvSpPr>
        <p:spPr>
          <a:xfrm>
            <a:off x="6444942" y="4505813"/>
            <a:ext cx="28964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Image source: https://www.swarco.com/mobility-future/intelligent-transportation-systems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306C8-4260-CF60-E757-CDE517F890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699" y="27791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Our Team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24980A-A67D-D48D-32AB-AE61EBD42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681" y="2734865"/>
            <a:ext cx="3047562" cy="22754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77FB3-FD97-0BBC-7D54-741DF94D49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7" name="Google Shape;62;p14">
            <a:extLst>
              <a:ext uri="{FF2B5EF4-FFF2-40B4-BE49-F238E27FC236}">
                <a16:creationId xmlns:a16="http://schemas.microsoft.com/office/drawing/2014/main" id="{052260B5-7487-079B-F685-A24F98A83B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842" y="850611"/>
            <a:ext cx="8822512" cy="38578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sz="1400" b="1" dirty="0">
                <a:solidFill>
                  <a:schemeClr val="tx1"/>
                </a:solidFill>
              </a:rPr>
              <a:t>Privacy: </a:t>
            </a:r>
            <a:r>
              <a:rPr lang="en-US" sz="1400" dirty="0">
                <a:solidFill>
                  <a:schemeClr val="tx1"/>
                </a:solidFill>
              </a:rPr>
              <a:t>Yuan Hong, Binghui Wang, Meisam </a:t>
            </a:r>
            <a:r>
              <a:rPr lang="en-US" sz="1400" dirty="0" err="1">
                <a:solidFill>
                  <a:schemeClr val="tx1"/>
                </a:solidFill>
              </a:rPr>
              <a:t>Mohammady</a:t>
            </a:r>
            <a:endParaRPr lang="en-US" sz="1400" dirty="0">
              <a:solidFill>
                <a:schemeClr val="tx1"/>
              </a:solidFill>
            </a:endParaRP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Differential privacy (DP), applied cryptography, machine learning privacy (attacks and defenses), machine unlearning, usable privacy, etc.</a:t>
            </a: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Publications: S&amp;P, CCS, USENIX Security, NDSS, </a:t>
            </a:r>
            <a:r>
              <a:rPr lang="en-US" sz="1000" dirty="0" err="1">
                <a:solidFill>
                  <a:schemeClr val="tx1"/>
                </a:solidFill>
              </a:rPr>
              <a:t>NeurIPS</a:t>
            </a:r>
            <a:r>
              <a:rPr lang="en-US" sz="1000" dirty="0">
                <a:solidFill>
                  <a:schemeClr val="tx1"/>
                </a:solidFill>
              </a:rPr>
              <a:t>, ICLR, SIGMOD, VLDB, ICML, CVPR, ECCV, PETS, CSF, EMNLP, etc. </a:t>
            </a:r>
          </a:p>
          <a:p>
            <a:pPr lvl="0"/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Transportation: </a:t>
            </a:r>
            <a:r>
              <a:rPr lang="en-US" sz="1400" dirty="0">
                <a:solidFill>
                  <a:schemeClr val="tx1"/>
                </a:solidFill>
              </a:rPr>
              <a:t>Jeff Ban, Angela </a:t>
            </a:r>
            <a:r>
              <a:rPr lang="en-US" sz="1400" dirty="0" err="1">
                <a:solidFill>
                  <a:schemeClr val="tx1"/>
                </a:solidFill>
              </a:rPr>
              <a:t>Kitali</a:t>
            </a:r>
            <a:endParaRPr lang="en-US" sz="1400" dirty="0">
              <a:solidFill>
                <a:schemeClr val="tx1"/>
              </a:solidFill>
            </a:endParaRP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Traffic flow and travel behavior, traffic state estimation, traffic control and operations, traffic safety and human factor, multimodal mobility systems, planning and travel demand management, etc. </a:t>
            </a: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Publications: TR-A, TR-B, TR-C, T-ITS, AAAI, etc. </a:t>
            </a:r>
            <a:endParaRPr lang="en" sz="1400" dirty="0">
              <a:solidFill>
                <a:schemeClr val="tx1"/>
              </a:solidFill>
            </a:endParaRPr>
          </a:p>
          <a:p>
            <a:endParaRPr lang="en" sz="1400" dirty="0">
              <a:solidFill>
                <a:schemeClr val="tx1"/>
              </a:solidFill>
            </a:endParaRPr>
          </a:p>
          <a:p>
            <a:pPr lvl="0"/>
            <a:r>
              <a:rPr lang="en-US" sz="1400" b="1" dirty="0">
                <a:solidFill>
                  <a:schemeClr val="tx1"/>
                </a:solidFill>
              </a:rPr>
              <a:t>Transportation Privacy: </a:t>
            </a:r>
            <a:r>
              <a:rPr lang="en-US" sz="1400" dirty="0">
                <a:solidFill>
                  <a:schemeClr val="tx1"/>
                </a:solidFill>
              </a:rPr>
              <a:t>Yuan Hong, Jeff Ban, Meisam </a:t>
            </a:r>
            <a:r>
              <a:rPr lang="en-US" sz="1400" dirty="0" err="1">
                <a:solidFill>
                  <a:schemeClr val="tx1"/>
                </a:solidFill>
              </a:rPr>
              <a:t>Mohammady</a:t>
            </a:r>
            <a:endParaRPr lang="en-US" sz="1400" dirty="0">
              <a:solidFill>
                <a:schemeClr val="tx1"/>
              </a:solidFill>
            </a:endParaRP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Location and trajectory privacy, V2X privacy, mobile sensing privacy, private traffic monitoring</a:t>
            </a: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Publications: CCS, </a:t>
            </a:r>
            <a:r>
              <a:rPr lang="en-US" sz="1000" dirty="0" err="1">
                <a:solidFill>
                  <a:schemeClr val="tx1"/>
                </a:solidFill>
              </a:rPr>
              <a:t>MobiSys</a:t>
            </a:r>
            <a:r>
              <a:rPr lang="en-US" sz="1000" dirty="0">
                <a:solidFill>
                  <a:schemeClr val="tx1"/>
                </a:solidFill>
              </a:rPr>
              <a:t>, TR-B, T-ITS, TDSC, T-IFS, etc. </a:t>
            </a:r>
          </a:p>
          <a:p>
            <a:pPr lvl="1"/>
            <a:endParaRPr lang="en-US" sz="10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Systems: </a:t>
            </a:r>
            <a:r>
              <a:rPr lang="en-US" sz="1400" dirty="0">
                <a:solidFill>
                  <a:schemeClr val="tx1"/>
                </a:solidFill>
              </a:rPr>
              <a:t>Song Han</a:t>
            </a: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Cyber-physical systems, real-time systems, V2X communications</a:t>
            </a:r>
          </a:p>
          <a:p>
            <a:pPr lvl="1"/>
            <a:r>
              <a:rPr lang="en-US" sz="1000" dirty="0">
                <a:solidFill>
                  <a:schemeClr val="tx1"/>
                </a:solidFill>
              </a:rPr>
              <a:t>Publications: RTSS, RTAS, DAC, etc. </a:t>
            </a:r>
          </a:p>
          <a:p>
            <a:endParaRPr lang="en-US" sz="1400" b="1" dirty="0">
              <a:solidFill>
                <a:schemeClr val="tx1"/>
              </a:solidFill>
            </a:endParaRPr>
          </a:p>
          <a:p>
            <a:pPr marL="596900" lvl="1" indent="0">
              <a:buNone/>
            </a:pPr>
            <a:endParaRPr 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1990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Project Overview: </a:t>
            </a:r>
            <a:r>
              <a:rPr lang="en" sz="2000" u="sng" dirty="0"/>
              <a:t>P</a:t>
            </a:r>
            <a:r>
              <a:rPr lang="en" sz="2000" dirty="0"/>
              <a:t>riv</a:t>
            </a:r>
            <a:r>
              <a:rPr lang="en" sz="2000" u="sng" dirty="0"/>
              <a:t>A</a:t>
            </a:r>
            <a:r>
              <a:rPr lang="en" sz="2000" dirty="0"/>
              <a:t>cy Preserv</a:t>
            </a:r>
            <a:r>
              <a:rPr lang="en" sz="2000" u="sng" dirty="0"/>
              <a:t>I</a:t>
            </a:r>
            <a:r>
              <a:rPr lang="en" sz="2000" dirty="0"/>
              <a:t>ng Sha</a:t>
            </a:r>
            <a:r>
              <a:rPr lang="en" sz="2000" u="sng" dirty="0"/>
              <a:t>R</a:t>
            </a:r>
            <a:r>
              <a:rPr lang="en" sz="2000" dirty="0"/>
              <a:t>ing Platform (PAIR)</a:t>
            </a:r>
            <a:endParaRPr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9B23D3-6A67-D4C1-3C34-D07E4451F5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31D1A9-49D0-3E9C-0904-7F98233DA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32" y="1062764"/>
            <a:ext cx="8685626" cy="34475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A2921A-12E0-B94A-9BC3-2A8B2EB183D8}"/>
              </a:ext>
            </a:extLst>
          </p:cNvPr>
          <p:cNvSpPr txBox="1"/>
          <p:nvPr/>
        </p:nvSpPr>
        <p:spPr>
          <a:xfrm>
            <a:off x="2286000" y="461602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The </a:t>
            </a:r>
            <a:r>
              <a:rPr lang="en-US" sz="1400" b="1" dirty="0">
                <a:solidFill>
                  <a:srgbClr val="C00000"/>
                </a:solidFill>
              </a:rPr>
              <a:t>PAIR</a:t>
            </a:r>
            <a:r>
              <a:rPr lang="en-US" sz="1400" b="1" dirty="0">
                <a:solidFill>
                  <a:schemeClr val="tx1"/>
                </a:solidFill>
              </a:rPr>
              <a:t> Platform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(PPT: Privacy-Preserving Technique)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311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sz="2000" dirty="0"/>
              <a:t>Thrust 1: Differentially Private Data Synthesis (Centralized) – Task 1.1</a:t>
            </a:r>
            <a:endParaRPr sz="2000" dirty="0"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283566" y="881171"/>
            <a:ext cx="9377400" cy="3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Synthetic Recurrent Neural Net (RNN) Vehicle Trajectories Generator</a:t>
            </a:r>
            <a:r>
              <a:rPr lang="en" sz="1500" dirty="0">
                <a:solidFill>
                  <a:schemeClr val="dk1"/>
                </a:solidFill>
              </a:rPr>
              <a:t>    </a:t>
            </a:r>
            <a:r>
              <a:rPr lang="en" sz="1600" b="1" i="1" dirty="0">
                <a:solidFill>
                  <a:schemeClr val="dk1"/>
                </a:solidFill>
              </a:rPr>
              <a:t>       </a:t>
            </a:r>
            <a:r>
              <a:rPr lang="en" sz="1400" b="1" i="1" dirty="0">
                <a:solidFill>
                  <a:schemeClr val="dk1"/>
                </a:solidFill>
              </a:rPr>
              <a:t>DeapSneak</a:t>
            </a:r>
            <a:r>
              <a:rPr lang="en" sz="1300" i="1" dirty="0">
                <a:solidFill>
                  <a:schemeClr val="dk1"/>
                </a:solidFill>
              </a:rPr>
              <a:t> </a:t>
            </a:r>
            <a:r>
              <a:rPr lang="en" sz="1200" b="1" i="1" dirty="0">
                <a:solidFill>
                  <a:schemeClr val="accent4">
                    <a:lumMod val="50000"/>
                  </a:schemeClr>
                </a:solidFill>
              </a:rPr>
              <a:t>[TIST’24] </a:t>
            </a:r>
            <a:endParaRPr sz="1200" b="1" i="1" dirty="0">
              <a:solidFill>
                <a:schemeClr val="accent4">
                  <a:lumMod val="50000"/>
                </a:schemeClr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DP-synthetic traffic flow retaining key spatial–temporal patterns         </a:t>
            </a:r>
            <a:r>
              <a:rPr lang="en" sz="1400" b="1" i="1" dirty="0">
                <a:solidFill>
                  <a:schemeClr val="dk1"/>
                </a:solidFill>
              </a:rPr>
              <a:t>Naturalistic DP I-880</a:t>
            </a:r>
            <a:r>
              <a:rPr lang="en" sz="1400" i="1" dirty="0">
                <a:solidFill>
                  <a:schemeClr val="dk1"/>
                </a:solidFill>
              </a:rPr>
              <a:t> </a:t>
            </a:r>
            <a:r>
              <a:rPr lang="en" sz="1200" b="1" i="1" dirty="0">
                <a:solidFill>
                  <a:schemeClr val="accent4">
                    <a:lumMod val="50000"/>
                  </a:schemeClr>
                </a:solidFill>
              </a:rPr>
              <a:t>[VehicleSec’23]</a:t>
            </a:r>
            <a:endParaRPr sz="1200" b="1" i="1" dirty="0">
              <a:solidFill>
                <a:schemeClr val="accent4">
                  <a:lumMod val="50000"/>
                </a:schemeClr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Task-optimal DP mechanism design             </a:t>
            </a:r>
            <a:r>
              <a:rPr lang="en" sz="1400" b="1" i="1" dirty="0">
                <a:solidFill>
                  <a:schemeClr val="dk1"/>
                </a:solidFill>
              </a:rPr>
              <a:t>PLRV-O    </a:t>
            </a:r>
            <a:r>
              <a:rPr lang="en" sz="1400" b="1" i="1" dirty="0">
                <a:solidFill>
                  <a:schemeClr val="accent4">
                    <a:lumMod val="50000"/>
                  </a:schemeClr>
                </a:solidFill>
              </a:rPr>
              <a:t>[CCS’25] </a:t>
            </a:r>
            <a:endParaRPr sz="1400" b="1" i="1" dirty="0">
              <a:solidFill>
                <a:schemeClr val="accent4">
                  <a:lumMod val="50000"/>
                </a:schemeClr>
              </a:solidFill>
            </a:endParaRPr>
          </a:p>
          <a:p>
            <a:pPr marL="2743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 dirty="0">
                <a:solidFill>
                  <a:schemeClr val="dk1"/>
                </a:solidFill>
              </a:rPr>
              <a:t>                         </a:t>
            </a:r>
            <a:r>
              <a:rPr lang="en" sz="1400" b="1" i="1" dirty="0">
                <a:solidFill>
                  <a:schemeClr val="dk1"/>
                </a:solidFill>
              </a:rPr>
              <a:t>Lap</a:t>
            </a:r>
            <a:r>
              <a:rPr lang="en" sz="1400" b="1" i="1" baseline="-25000" dirty="0">
                <a:solidFill>
                  <a:schemeClr val="dk1"/>
                </a:solidFill>
              </a:rPr>
              <a:t>2</a:t>
            </a:r>
            <a:r>
              <a:rPr lang="en" sz="1400" i="1" baseline="-25000" dirty="0">
                <a:solidFill>
                  <a:schemeClr val="dk1"/>
                </a:solidFill>
              </a:rPr>
              <a:t> </a:t>
            </a:r>
            <a:r>
              <a:rPr lang="en" sz="1400" i="1" dirty="0">
                <a:solidFill>
                  <a:schemeClr val="dk1"/>
                </a:solidFill>
              </a:rPr>
              <a:t>         </a:t>
            </a:r>
            <a:r>
              <a:rPr lang="en" sz="1400" b="1" i="1" dirty="0">
                <a:solidFill>
                  <a:schemeClr val="accent4">
                    <a:lumMod val="50000"/>
                  </a:schemeClr>
                </a:solidFill>
              </a:rPr>
              <a:t>[CSF’26]</a:t>
            </a:r>
            <a:endParaRPr sz="1400" b="1" i="1" dirty="0">
              <a:solidFill>
                <a:schemeClr val="accent4">
                  <a:lumMod val="50000"/>
                </a:schemeClr>
              </a:solidFill>
            </a:endParaRPr>
          </a:p>
          <a:p>
            <a:pPr marL="2743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1" dirty="0">
                <a:solidFill>
                  <a:schemeClr val="dk1"/>
                </a:solidFill>
              </a:rPr>
              <a:t>                         </a:t>
            </a:r>
            <a:r>
              <a:rPr lang="en" sz="1400" b="1" i="1" dirty="0">
                <a:solidFill>
                  <a:schemeClr val="dk1"/>
                </a:solidFill>
              </a:rPr>
              <a:t>R</a:t>
            </a:r>
            <a:r>
              <a:rPr lang="en" sz="1400" b="1" i="1" baseline="30000" dirty="0">
                <a:solidFill>
                  <a:schemeClr val="dk1"/>
                </a:solidFill>
              </a:rPr>
              <a:t>2</a:t>
            </a:r>
            <a:r>
              <a:rPr lang="en" sz="1400" b="1" i="1" dirty="0">
                <a:solidFill>
                  <a:schemeClr val="dk1"/>
                </a:solidFill>
              </a:rPr>
              <a:t>DP</a:t>
            </a:r>
            <a:r>
              <a:rPr lang="en" sz="1400" i="1" dirty="0">
                <a:solidFill>
                  <a:schemeClr val="dk1"/>
                </a:solidFill>
              </a:rPr>
              <a:t>        </a:t>
            </a:r>
            <a:r>
              <a:rPr lang="en" sz="1400" b="1" i="1" dirty="0">
                <a:solidFill>
                  <a:schemeClr val="accent4">
                    <a:lumMod val="50000"/>
                  </a:schemeClr>
                </a:solidFill>
              </a:rPr>
              <a:t>[CCS’20] </a:t>
            </a:r>
            <a:endParaRPr sz="1400" b="1" i="1" dirty="0">
              <a:solidFill>
                <a:schemeClr val="accent4">
                  <a:lumMod val="50000"/>
                </a:schemeClr>
              </a:solidFill>
            </a:endParaRPr>
          </a:p>
          <a:p>
            <a:pPr marL="2743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Bounding DP budget in infinite streams      </a:t>
            </a:r>
            <a:r>
              <a:rPr lang="en" sz="1400" b="1" dirty="0">
                <a:solidFill>
                  <a:schemeClr val="dk1"/>
                </a:solidFill>
              </a:rPr>
              <a:t>     </a:t>
            </a:r>
            <a:r>
              <a:rPr lang="en" sz="1400" b="1" i="1" dirty="0">
                <a:solidFill>
                  <a:schemeClr val="dk1"/>
                </a:solidFill>
              </a:rPr>
              <a:t>DPI </a:t>
            </a:r>
            <a:r>
              <a:rPr lang="en" sz="1400" b="1" i="1" dirty="0">
                <a:solidFill>
                  <a:schemeClr val="accent4">
                    <a:lumMod val="50000"/>
                  </a:schemeClr>
                </a:solidFill>
              </a:rPr>
              <a:t>[S&amp;P’24]</a:t>
            </a:r>
            <a:endParaRPr sz="1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3860183" y="1947820"/>
            <a:ext cx="335735" cy="3351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7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100" tIns="70100" rIns="70100" bIns="70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3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A51CF4-02C4-F1E5-F640-6D966A698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5" name="Google Shape;102;p20">
            <a:extLst>
              <a:ext uri="{FF2B5EF4-FFF2-40B4-BE49-F238E27FC236}">
                <a16:creationId xmlns:a16="http://schemas.microsoft.com/office/drawing/2014/main" id="{ACF9F883-FD8C-B571-E98E-A38C926FDF02}"/>
              </a:ext>
            </a:extLst>
          </p:cNvPr>
          <p:cNvSpPr/>
          <p:nvPr/>
        </p:nvSpPr>
        <p:spPr>
          <a:xfrm>
            <a:off x="4009763" y="2606012"/>
            <a:ext cx="335735" cy="3351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7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100" tIns="70100" rIns="70100" bIns="70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3"/>
          </a:p>
        </p:txBody>
      </p:sp>
      <p:sp>
        <p:nvSpPr>
          <p:cNvPr id="6" name="Google Shape;102;p20">
            <a:extLst>
              <a:ext uri="{FF2B5EF4-FFF2-40B4-BE49-F238E27FC236}">
                <a16:creationId xmlns:a16="http://schemas.microsoft.com/office/drawing/2014/main" id="{0FB868DB-09B5-9A98-FD17-86474482E27C}"/>
              </a:ext>
            </a:extLst>
          </p:cNvPr>
          <p:cNvSpPr/>
          <p:nvPr/>
        </p:nvSpPr>
        <p:spPr>
          <a:xfrm>
            <a:off x="6436344" y="940020"/>
            <a:ext cx="335735" cy="3351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7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100" tIns="70100" rIns="70100" bIns="70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3"/>
          </a:p>
        </p:txBody>
      </p:sp>
      <p:sp>
        <p:nvSpPr>
          <p:cNvPr id="7" name="Google Shape;102;p20">
            <a:extLst>
              <a:ext uri="{FF2B5EF4-FFF2-40B4-BE49-F238E27FC236}">
                <a16:creationId xmlns:a16="http://schemas.microsoft.com/office/drawing/2014/main" id="{96A2B579-7D10-1DD5-F3A5-168C3678C13F}"/>
              </a:ext>
            </a:extLst>
          </p:cNvPr>
          <p:cNvSpPr/>
          <p:nvPr/>
        </p:nvSpPr>
        <p:spPr>
          <a:xfrm>
            <a:off x="5827725" y="1380724"/>
            <a:ext cx="335735" cy="3351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7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100" tIns="70100" rIns="70100" bIns="70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73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63F390-7EDA-2A07-9BCA-DB1D6E7AA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807" y="3074751"/>
            <a:ext cx="6520618" cy="17002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24625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Task 1.2: Privacy Preserving Federated Learning (Distributed)</a:t>
            </a:r>
            <a:endParaRPr sz="2000" dirty="0"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773458"/>
            <a:ext cx="875258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500" b="1" dirty="0">
                <a:solidFill>
                  <a:schemeClr val="tx1"/>
                </a:solidFill>
              </a:rPr>
              <a:t>Distributed setting</a:t>
            </a:r>
            <a:r>
              <a:rPr lang="en" sz="1500" dirty="0">
                <a:solidFill>
                  <a:schemeClr val="tx1"/>
                </a:solidFill>
              </a:rPr>
              <a:t>: multiple sites collaboratively train a PP-FL model</a:t>
            </a:r>
            <a:endParaRPr sz="15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" sz="5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 dirty="0">
                <a:solidFill>
                  <a:schemeClr val="tx1"/>
                </a:solidFill>
              </a:rPr>
              <a:t>E.g., multiple agencies collaboratively train a driving behavior prediction model using their “naturalistic” in-vehicle videos (</a:t>
            </a:r>
            <a:r>
              <a:rPr lang="en" sz="1300" b="1" dirty="0">
                <a:solidFill>
                  <a:srgbClr val="C00000"/>
                </a:solidFill>
              </a:rPr>
              <a:t>raw videos cannot be shared</a:t>
            </a:r>
            <a:r>
              <a:rPr lang="en" sz="1300" dirty="0">
                <a:solidFill>
                  <a:schemeClr val="tx1"/>
                </a:solidFill>
              </a:rPr>
              <a:t>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600" b="1" dirty="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 dirty="0">
                <a:solidFill>
                  <a:schemeClr val="tx1"/>
                </a:solidFill>
              </a:rPr>
              <a:t>Challenges</a:t>
            </a:r>
            <a:r>
              <a:rPr lang="en" sz="1600" dirty="0">
                <a:solidFill>
                  <a:schemeClr val="tx1"/>
                </a:solidFill>
              </a:rPr>
              <a:t> when adapting existing PP-FL to ITS applications</a:t>
            </a:r>
            <a:endParaRPr sz="16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" sz="500" i="1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 i="1" dirty="0">
                <a:solidFill>
                  <a:schemeClr val="tx1"/>
                </a:solidFill>
              </a:rPr>
              <a:t>Temporally-correlated data </a:t>
            </a:r>
            <a:r>
              <a:rPr lang="en" sz="1300" dirty="0">
                <a:solidFill>
                  <a:schemeClr val="tx1"/>
                </a:solidFill>
              </a:rPr>
              <a:t>(e.g., trajectories, in-vehicle videos)</a:t>
            </a:r>
            <a:endParaRPr sz="1300" i="1" dirty="0">
              <a:solidFill>
                <a:schemeClr val="tx1"/>
              </a:solidFill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100" dirty="0">
                <a:solidFill>
                  <a:schemeClr val="tx1"/>
                </a:solidFill>
              </a:rPr>
              <a:t>Existing PP-FL focuses on independent data (e.g., images), while ITS data is temporally dependent </a:t>
            </a:r>
            <a:endParaRPr sz="1100" dirty="0">
              <a:solidFill>
                <a:schemeClr val="tx1"/>
              </a:solidFill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100" dirty="0">
                <a:solidFill>
                  <a:schemeClr val="tx1"/>
                </a:solidFill>
              </a:rPr>
              <a:t>Adjacent timestamps are highly correlated</a:t>
            </a:r>
            <a:endParaRPr sz="1100" dirty="0">
              <a:solidFill>
                <a:schemeClr val="tx1"/>
              </a:solidFill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100" dirty="0">
                <a:solidFill>
                  <a:schemeClr val="tx1"/>
                </a:solidFill>
              </a:rPr>
              <a:t>Direct learning is </a:t>
            </a:r>
            <a:r>
              <a:rPr lang="en" sz="1100" b="1" dirty="0">
                <a:solidFill>
                  <a:schemeClr val="tx1"/>
                </a:solidFill>
              </a:rPr>
              <a:t>computationally expensive</a:t>
            </a:r>
            <a:r>
              <a:rPr lang="en" sz="1100" dirty="0">
                <a:solidFill>
                  <a:schemeClr val="tx1"/>
                </a:solidFill>
              </a:rPr>
              <a:t> due to high-dimensional features</a:t>
            </a:r>
            <a:endParaRPr sz="11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" sz="500" i="1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 i="1" dirty="0">
                <a:solidFill>
                  <a:schemeClr val="tx1"/>
                </a:solidFill>
              </a:rPr>
              <a:t>General-purpose tasks (</a:t>
            </a:r>
            <a:r>
              <a:rPr lang="en" sz="1300" b="1" i="1" dirty="0">
                <a:solidFill>
                  <a:srgbClr val="C00000"/>
                </a:solidFill>
              </a:rPr>
              <a:t>task-agnostic</a:t>
            </a:r>
            <a:r>
              <a:rPr lang="en" sz="1300" i="1" dirty="0">
                <a:solidFill>
                  <a:schemeClr val="tx1"/>
                </a:solidFill>
              </a:rPr>
              <a:t>)</a:t>
            </a:r>
            <a:endParaRPr sz="1300" i="1" dirty="0">
              <a:solidFill>
                <a:schemeClr val="tx1"/>
              </a:solidFill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100" dirty="0">
                <a:solidFill>
                  <a:schemeClr val="tx1"/>
                </a:solidFill>
              </a:rPr>
              <a:t>ITS data supports various applications, e.g., crash mitigation, driving behavior analysis, traffic prediction</a:t>
            </a: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endParaRPr sz="1200" dirty="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 dirty="0">
                <a:solidFill>
                  <a:schemeClr val="tx1"/>
                </a:solidFill>
              </a:rPr>
              <a:t>Potential Solutions: (1) </a:t>
            </a:r>
            <a:r>
              <a:rPr lang="en" sz="1600" b="1" u="sng" dirty="0">
                <a:solidFill>
                  <a:schemeClr val="tx1"/>
                </a:solidFill>
              </a:rPr>
              <a:t>information theory</a:t>
            </a:r>
            <a:r>
              <a:rPr lang="en" sz="1600" b="1" dirty="0">
                <a:solidFill>
                  <a:schemeClr val="tx1"/>
                </a:solidFill>
              </a:rPr>
              <a:t>-based, (2) </a:t>
            </a:r>
            <a:r>
              <a:rPr lang="en" sz="1600" b="1" u="sng" dirty="0">
                <a:solidFill>
                  <a:schemeClr val="tx1"/>
                </a:solidFill>
              </a:rPr>
              <a:t>DP</a:t>
            </a:r>
            <a:r>
              <a:rPr lang="en" sz="1600" b="1" dirty="0">
                <a:solidFill>
                  <a:schemeClr val="tx1"/>
                </a:solidFill>
              </a:rPr>
              <a:t>-based PP-FL </a:t>
            </a:r>
            <a:endParaRPr sz="1600" b="1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" sz="5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 dirty="0">
                <a:solidFill>
                  <a:schemeClr val="tx1"/>
                </a:solidFill>
              </a:rPr>
              <a:t>Information-theoretic PP-FL for task-agnostic ITS </a:t>
            </a:r>
            <a:r>
              <a:rPr lang="en" sz="1300" b="1" i="1" dirty="0">
                <a:solidFill>
                  <a:schemeClr val="accent4">
                    <a:lumMod val="50000"/>
                  </a:schemeClr>
                </a:solidFill>
              </a:rPr>
              <a:t>[USENIX Security’24a, AAAI’25]</a:t>
            </a:r>
            <a:endParaRPr sz="1300" b="1" i="1" dirty="0">
              <a:solidFill>
                <a:schemeClr val="accent4">
                  <a:lumMod val="50000"/>
                </a:schemeClr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" sz="5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 dirty="0">
                <a:solidFill>
                  <a:schemeClr val="tx1"/>
                </a:solidFill>
              </a:rPr>
              <a:t>Differentially-private FL for task-agnostic ITS applications </a:t>
            </a:r>
            <a:r>
              <a:rPr lang="en" sz="1300" b="1" i="1" dirty="0">
                <a:solidFill>
                  <a:schemeClr val="accent4">
                    <a:lumMod val="50000"/>
                  </a:schemeClr>
                </a:solidFill>
              </a:rPr>
              <a:t>[CCS’22, CODASPY’25]</a:t>
            </a:r>
            <a:endParaRPr sz="1300" b="1" i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94C05C-24AF-846F-925B-25FE638C4A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073D45-745F-E141-DF82-FF46ECF31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27" y="3993599"/>
            <a:ext cx="7152409" cy="752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91118281-793C-1252-140F-CD8B21E4A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>
            <a:extLst>
              <a:ext uri="{FF2B5EF4-FFF2-40B4-BE49-F238E27FC236}">
                <a16:creationId xmlns:a16="http://schemas.microsoft.com/office/drawing/2014/main" id="{6D6BAF39-8558-BFED-7319-3337371593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8541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Thrust 2: Generalized PPT Platform and Benchmarks</a:t>
            </a:r>
            <a:endParaRPr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0277C-0F39-D754-CB17-9E935C02EB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3" name="Google Shape;134;p25">
            <a:extLst>
              <a:ext uri="{FF2B5EF4-FFF2-40B4-BE49-F238E27FC236}">
                <a16:creationId xmlns:a16="http://schemas.microsoft.com/office/drawing/2014/main" id="{DC62B8E8-D888-873A-F987-4579EA42DA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3250" y="791404"/>
            <a:ext cx="879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b="1" dirty="0">
                <a:solidFill>
                  <a:schemeClr val="tx1"/>
                </a:solidFill>
              </a:rPr>
              <a:t>Research team</a:t>
            </a:r>
            <a:r>
              <a:rPr lang="en" sz="1400" dirty="0">
                <a:solidFill>
                  <a:schemeClr val="tx1"/>
                </a:solidFill>
              </a:rPr>
              <a:t> has collectively worked on almost every </a:t>
            </a:r>
            <a:r>
              <a:rPr lang="en" sz="1400" b="1" dirty="0">
                <a:solidFill>
                  <a:srgbClr val="C00000"/>
                </a:solidFill>
              </a:rPr>
              <a:t>ITS application </a:t>
            </a:r>
            <a:r>
              <a:rPr lang="en" sz="1400" dirty="0">
                <a:solidFill>
                  <a:schemeClr val="tx1"/>
                </a:solidFill>
              </a:rPr>
              <a:t>supported by different types of ITS data, and almost every type of </a:t>
            </a:r>
            <a:r>
              <a:rPr lang="en" sz="1400" b="1" dirty="0">
                <a:solidFill>
                  <a:srgbClr val="C00000"/>
                </a:solidFill>
              </a:rPr>
              <a:t>PPTs</a:t>
            </a:r>
            <a:endParaRPr sz="1400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51B09D-F595-218B-A6C4-ACE32AA9E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46" y="1551981"/>
            <a:ext cx="7976507" cy="14571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A4C3B8-5B08-EDF3-4FE9-8CF3FED54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26" y="3208486"/>
            <a:ext cx="8847674" cy="159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269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>
            <a:spLocks noGrp="1"/>
          </p:cNvSpPr>
          <p:nvPr>
            <p:ph type="title"/>
          </p:nvPr>
        </p:nvSpPr>
        <p:spPr>
          <a:xfrm>
            <a:off x="267286" y="250604"/>
            <a:ext cx="88307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Task 2.1: Benchmark Repository for “PPTs + ITS Data/Applications”</a:t>
            </a:r>
            <a:endParaRPr sz="2000" dirty="0"/>
          </a:p>
        </p:txBody>
      </p:sp>
      <p:sp>
        <p:nvSpPr>
          <p:cNvPr id="141" name="Google Shape;141;p26"/>
          <p:cNvSpPr txBox="1">
            <a:spLocks noGrp="1"/>
          </p:cNvSpPr>
          <p:nvPr>
            <p:ph type="body" idx="1"/>
          </p:nvPr>
        </p:nvSpPr>
        <p:spPr>
          <a:xfrm>
            <a:off x="387956" y="894568"/>
            <a:ext cx="8520600" cy="22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>
                <a:solidFill>
                  <a:schemeClr val="tx1"/>
                </a:solidFill>
              </a:rPr>
              <a:t>Top-3 PPTs for a set of widely-used ITS applications support by ITS Data</a:t>
            </a:r>
            <a:endParaRPr sz="14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" sz="5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>
                <a:solidFill>
                  <a:schemeClr val="tx1"/>
                </a:solidFill>
              </a:rPr>
              <a:t>Evaluation metrics: </a:t>
            </a:r>
            <a:endParaRPr sz="14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User-level privacy (</a:t>
            </a:r>
            <a:r>
              <a:rPr lang="en" sz="1200" b="1" dirty="0">
                <a:solidFill>
                  <a:schemeClr val="tx1"/>
                </a:solidFill>
              </a:rPr>
              <a:t>U-P</a:t>
            </a:r>
            <a:r>
              <a:rPr lang="en" sz="1200" dirty="0">
                <a:solidFill>
                  <a:schemeClr val="tx1"/>
                </a:solidFill>
              </a:rPr>
              <a:t>): privacy guarantee for each user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Site-level privacy (</a:t>
            </a:r>
            <a:r>
              <a:rPr lang="en" sz="1200" b="1" dirty="0">
                <a:solidFill>
                  <a:schemeClr val="tx1"/>
                </a:solidFill>
              </a:rPr>
              <a:t>S-P</a:t>
            </a:r>
            <a:r>
              <a:rPr lang="en" sz="1200" dirty="0">
                <a:solidFill>
                  <a:schemeClr val="tx1"/>
                </a:solidFill>
              </a:rPr>
              <a:t>): privacy guarantee for a data sharing site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Data utility (</a:t>
            </a:r>
            <a:r>
              <a:rPr lang="en" sz="1200" b="1" dirty="0">
                <a:solidFill>
                  <a:schemeClr val="tx1"/>
                </a:solidFill>
              </a:rPr>
              <a:t>U</a:t>
            </a:r>
            <a:r>
              <a:rPr lang="en" sz="1200" dirty="0">
                <a:solidFill>
                  <a:schemeClr val="tx1"/>
                </a:solidFill>
              </a:rPr>
              <a:t>): analysis accuracy of ITS applications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Efficiency (</a:t>
            </a:r>
            <a:r>
              <a:rPr lang="en" sz="1200" b="1" dirty="0">
                <a:solidFill>
                  <a:schemeClr val="tx1"/>
                </a:solidFill>
              </a:rPr>
              <a:t>E</a:t>
            </a:r>
            <a:r>
              <a:rPr lang="en" sz="1200" dirty="0">
                <a:solidFill>
                  <a:schemeClr val="tx1"/>
                </a:solidFill>
              </a:rPr>
              <a:t>): computation/communication overheads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" sz="5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>
                <a:solidFill>
                  <a:schemeClr val="tx1"/>
                </a:solidFill>
              </a:rPr>
              <a:t>Challenges &amp; Solutions</a:t>
            </a:r>
            <a:endParaRPr sz="1400" dirty="0">
              <a:solidFill>
                <a:schemeClr val="tx1"/>
              </a:solidFill>
            </a:endParaRPr>
          </a:p>
        </p:txBody>
      </p:sp>
      <p:graphicFrame>
        <p:nvGraphicFramePr>
          <p:cNvPr id="142" name="Google Shape;142;p26"/>
          <p:cNvGraphicFramePr/>
          <p:nvPr>
            <p:extLst>
              <p:ext uri="{D42A27DB-BD31-4B8C-83A1-F6EECF244321}">
                <p14:modId xmlns:p14="http://schemas.microsoft.com/office/powerpoint/2010/main" val="1107148772"/>
              </p:ext>
            </p:extLst>
          </p:nvPr>
        </p:nvGraphicFramePr>
        <p:xfrm>
          <a:off x="938625" y="2986877"/>
          <a:ext cx="7266750" cy="1508730"/>
        </p:xfrm>
        <a:graphic>
          <a:graphicData uri="http://schemas.openxmlformats.org/drawingml/2006/table">
            <a:tbl>
              <a:tblPr>
                <a:noFill/>
                <a:tableStyleId>{58B4191D-7049-4724-A118-5B0BFC928031}</a:tableStyleId>
              </a:tblPr>
              <a:tblGrid>
                <a:gridCol w="42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4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tx1"/>
                          </a:solidFill>
                        </a:rPr>
                        <a:t>Challenge</a:t>
                      </a:r>
                      <a:endParaRPr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tx1"/>
                          </a:solidFill>
                        </a:rPr>
                        <a:t>Solution</a:t>
                      </a:r>
                      <a:endParaRPr sz="1200" b="1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tx1"/>
                          </a:solidFill>
                        </a:rPr>
                        <a:t>I</a:t>
                      </a:r>
                      <a:endParaRPr sz="1200" b="1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tx1"/>
                          </a:solidFill>
                        </a:rPr>
                        <a:t>PPTs can be task-specific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(may not be adaptable)</a:t>
                      </a:r>
                      <a:endParaRPr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tx1"/>
                          </a:solidFill>
                        </a:rPr>
                        <a:t>Feasibility study</a:t>
                      </a:r>
                      <a:endParaRPr sz="100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tx1"/>
                          </a:solidFill>
                        </a:rPr>
                        <a:t>II</a:t>
                      </a:r>
                      <a:endParaRPr sz="1200" b="1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tx1"/>
                          </a:solidFill>
                        </a:rPr>
                        <a:t>New (unknown) ITS data &amp; applications</a:t>
                      </a:r>
                      <a:endParaRPr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tx1"/>
                          </a:solidFill>
                        </a:rPr>
                        <a:t>Develop a PPT recommendation system</a:t>
                      </a:r>
                      <a:endParaRPr sz="100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tx1"/>
                          </a:solidFill>
                        </a:rPr>
                        <a:t>III</a:t>
                      </a:r>
                      <a:endParaRPr sz="1200" b="1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tx1"/>
                          </a:solidFill>
                        </a:rPr>
                        <a:t>Privacy risks in practice</a:t>
                      </a:r>
                      <a:endParaRPr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tx1"/>
                          </a:solidFill>
                        </a:rPr>
                        <a:t>Privacy audits &amp; compliance evaluation (Thrust 3)</a:t>
                      </a:r>
                      <a:endParaRPr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04DEC1-CE6D-6CAD-DD84-EA6FEA1425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B2C626-C22D-1C99-172D-4C99310C9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284" y="3330410"/>
            <a:ext cx="5524896" cy="1789645"/>
          </a:xfrm>
          <a:prstGeom prst="rect">
            <a:avLst/>
          </a:prstGeom>
        </p:spPr>
      </p:pic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311700" y="2855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Task 2.2: </a:t>
            </a:r>
            <a:r>
              <a:rPr lang="en" sz="2000" dirty="0"/>
              <a:t>PPT Recommendation System</a:t>
            </a:r>
            <a:endParaRPr sz="2000" dirty="0"/>
          </a:p>
        </p:txBody>
      </p:sp>
      <p:sp>
        <p:nvSpPr>
          <p:cNvPr id="148" name="Google Shape;148;p27"/>
          <p:cNvSpPr txBox="1">
            <a:spLocks noGrp="1"/>
          </p:cNvSpPr>
          <p:nvPr>
            <p:ph type="body" idx="1"/>
          </p:nvPr>
        </p:nvSpPr>
        <p:spPr>
          <a:xfrm>
            <a:off x="311700" y="858292"/>
            <a:ext cx="8520600" cy="26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>
                <a:solidFill>
                  <a:schemeClr val="tx1"/>
                </a:solidFill>
              </a:rPr>
              <a:t>Goal: work with data-sharing sites to recommend PPTs tailored to their needs:</a:t>
            </a:r>
            <a:endParaRPr sz="1400" dirty="0">
              <a:solidFill>
                <a:schemeClr val="tx1"/>
              </a:solidFill>
            </a:endParaRPr>
          </a:p>
          <a:p>
            <a:pPr lvl="1"/>
            <a:r>
              <a:rPr lang="en-US" sz="1200" u="sng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VTTI SHRP2 Data on Naturalistic driving</a:t>
            </a:r>
            <a:endParaRPr lang="en" sz="1200" u="sng" dirty="0">
              <a:solidFill>
                <a:schemeClr val="tx1"/>
              </a:solidFill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u="sng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Seattle Department of Transportation</a:t>
            </a:r>
            <a:r>
              <a:rPr lang="en" sz="1200" u="sng" dirty="0">
                <a:solidFill>
                  <a:schemeClr val="tx1"/>
                </a:solidFill>
              </a:rPr>
              <a:t> (SDoT)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u="sng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Cuebiq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USDOT funded university transportation centers (UTC): </a:t>
            </a:r>
            <a:r>
              <a:rPr lang="en" sz="1200" u="sng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PacTrans</a:t>
            </a:r>
            <a:r>
              <a:rPr lang="en" sz="1200" dirty="0">
                <a:solidFill>
                  <a:schemeClr val="tx1"/>
                </a:solidFill>
              </a:rPr>
              <a:t>, </a:t>
            </a:r>
            <a:r>
              <a:rPr lang="en" sz="1200" u="sng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C2Smarter</a:t>
            </a:r>
            <a:r>
              <a:rPr lang="en" sz="1200" dirty="0">
                <a:solidFill>
                  <a:schemeClr val="tx1"/>
                </a:solidFill>
              </a:rPr>
              <a:t>*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" sz="14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 dirty="0">
                <a:solidFill>
                  <a:schemeClr val="tx1"/>
                </a:solidFill>
              </a:rPr>
              <a:t>PPT Recommendation</a:t>
            </a:r>
            <a:endParaRPr sz="14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Weighted-sum of site preferences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Pareto optimization for tradeoffs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User-level privacy (</a:t>
            </a:r>
            <a:r>
              <a:rPr lang="en" sz="1200" b="1" dirty="0">
                <a:solidFill>
                  <a:schemeClr val="tx1"/>
                </a:solidFill>
              </a:rPr>
              <a:t>U-P</a:t>
            </a:r>
            <a:r>
              <a:rPr lang="en" sz="1200" dirty="0">
                <a:solidFill>
                  <a:schemeClr val="tx1"/>
                </a:solidFill>
              </a:rPr>
              <a:t>), site-level privacy (</a:t>
            </a:r>
            <a:r>
              <a:rPr lang="en" sz="1200" b="1" dirty="0">
                <a:solidFill>
                  <a:schemeClr val="tx1"/>
                </a:solidFill>
              </a:rPr>
              <a:t>S-P</a:t>
            </a:r>
            <a:r>
              <a:rPr lang="en" sz="1200" dirty="0">
                <a:solidFill>
                  <a:schemeClr val="tx1"/>
                </a:solidFill>
              </a:rPr>
              <a:t>), utility (</a:t>
            </a:r>
            <a:r>
              <a:rPr lang="en" sz="1200" b="1" dirty="0">
                <a:solidFill>
                  <a:schemeClr val="tx1"/>
                </a:solidFill>
              </a:rPr>
              <a:t>U</a:t>
            </a:r>
            <a:r>
              <a:rPr lang="en" sz="1200" dirty="0">
                <a:solidFill>
                  <a:schemeClr val="tx1"/>
                </a:solidFill>
              </a:rPr>
              <a:t>), privacy auditability (</a:t>
            </a:r>
            <a:r>
              <a:rPr lang="en" sz="1200" b="1" dirty="0">
                <a:solidFill>
                  <a:schemeClr val="tx1"/>
                </a:solidFill>
              </a:rPr>
              <a:t>P-A</a:t>
            </a:r>
            <a:r>
              <a:rPr lang="en" sz="1200" dirty="0">
                <a:solidFill>
                  <a:schemeClr val="tx1"/>
                </a:solidFill>
              </a:rPr>
              <a:t>), privacy policy compliance (</a:t>
            </a:r>
            <a:r>
              <a:rPr lang="en" sz="1200" b="1" dirty="0">
                <a:solidFill>
                  <a:schemeClr val="tx1"/>
                </a:solidFill>
              </a:rPr>
              <a:t>P-C</a:t>
            </a:r>
            <a:r>
              <a:rPr lang="en" sz="1200" dirty="0">
                <a:solidFill>
                  <a:schemeClr val="tx1"/>
                </a:solidFill>
              </a:rPr>
              <a:t>), efficiency (</a:t>
            </a:r>
            <a:r>
              <a:rPr lang="en" sz="1200" b="1" dirty="0">
                <a:solidFill>
                  <a:schemeClr val="tx1"/>
                </a:solidFill>
              </a:rPr>
              <a:t>E</a:t>
            </a:r>
            <a:r>
              <a:rPr lang="en" sz="1200" dirty="0">
                <a:solidFill>
                  <a:schemeClr val="tx1"/>
                </a:solidFill>
              </a:rPr>
              <a:t>)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D91E70-305C-9AD9-F89B-02D76BEC49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>
            <a:spLocks noGrp="1"/>
          </p:cNvSpPr>
          <p:nvPr>
            <p:ph type="title"/>
          </p:nvPr>
        </p:nvSpPr>
        <p:spPr>
          <a:xfrm>
            <a:off x="311700" y="1964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Task 2.3: Web Interface</a:t>
            </a:r>
            <a:endParaRPr sz="2000" dirty="0"/>
          </a:p>
        </p:txBody>
      </p:sp>
      <p:sp>
        <p:nvSpPr>
          <p:cNvPr id="155" name="Google Shape;155;p28"/>
          <p:cNvSpPr txBox="1">
            <a:spLocks noGrp="1"/>
          </p:cNvSpPr>
          <p:nvPr>
            <p:ph type="body" idx="1"/>
          </p:nvPr>
        </p:nvSpPr>
        <p:spPr>
          <a:xfrm>
            <a:off x="311700" y="62363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>
                <a:solidFill>
                  <a:schemeClr val="tx1"/>
                </a:solidFill>
              </a:rPr>
              <a:t>Web-based platform to help data-sharing sites address their PPT needs</a:t>
            </a:r>
            <a:endParaRPr sz="14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>
                <a:solidFill>
                  <a:schemeClr val="tx1"/>
                </a:solidFill>
              </a:rPr>
              <a:t>Allow other potential data-sharing sites to explore possible PPT solutions specific to their needs, encouraging wider ITS data sharing</a:t>
            </a:r>
            <a:endParaRPr sz="14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>
                <a:solidFill>
                  <a:schemeClr val="tx1"/>
                </a:solidFill>
              </a:rPr>
              <a:t>Key components:</a:t>
            </a:r>
            <a:endParaRPr sz="14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Front-end: layout, navigation, forms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Back-end: APIs, database, algorithms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Security mechanisms: authentication and encryption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User feedback: error message, notification, etc.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>
                <a:solidFill>
                  <a:schemeClr val="tx1"/>
                </a:solidFill>
              </a:rPr>
              <a:t>Past experience and current progress: </a:t>
            </a:r>
          </a:p>
          <a:p>
            <a:pPr lvl="1"/>
            <a:r>
              <a:rPr lang="en" sz="1200" dirty="0">
                <a:solidFill>
                  <a:schemeClr val="tx1"/>
                </a:solidFill>
              </a:rPr>
              <a:t>Dashboard for </a:t>
            </a:r>
            <a:r>
              <a:rPr lang="en" sz="12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ZEBRA</a:t>
            </a:r>
            <a:r>
              <a:rPr lang="en" sz="1200" dirty="0">
                <a:solidFill>
                  <a:schemeClr val="tx1"/>
                </a:solidFill>
              </a:rPr>
              <a:t> (Zero-Emission Bus Range &amp; Recharging Assessment)</a:t>
            </a:r>
          </a:p>
          <a:p>
            <a:pPr lvl="1"/>
            <a:r>
              <a:rPr lang="en" sz="1200" dirty="0">
                <a:solidFill>
                  <a:schemeClr val="tx1"/>
                </a:solidFill>
              </a:rPr>
              <a:t>Dashboard for visualizing DP-SGD and privacy attacks in machine learning </a:t>
            </a:r>
            <a:endParaRPr sz="1200" dirty="0">
              <a:solidFill>
                <a:schemeClr val="tx1"/>
              </a:solidFill>
            </a:endParaRPr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0223" y="1284849"/>
            <a:ext cx="3446585" cy="14313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FD5A38-0604-41B7-CBCE-53FFD40D9E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E5CAF1-A38D-7E9E-EEA3-645D827AF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8235" y="3249637"/>
            <a:ext cx="2110377" cy="17380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F696E5-4ACD-B533-7439-1A55781ABC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249637"/>
            <a:ext cx="2835045" cy="1738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>
            <a:spLocks noGrp="1"/>
          </p:cNvSpPr>
          <p:nvPr>
            <p:ph type="title"/>
          </p:nvPr>
        </p:nvSpPr>
        <p:spPr>
          <a:xfrm>
            <a:off x="273600" y="19564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Thrust 3: Privacy Auditing and Policy Compliance</a:t>
            </a:r>
            <a:endParaRPr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D89356-2620-B8D2-6D3B-1DD0BB3CB0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3" name="Google Shape;155;p28">
            <a:extLst>
              <a:ext uri="{FF2B5EF4-FFF2-40B4-BE49-F238E27FC236}">
                <a16:creationId xmlns:a16="http://schemas.microsoft.com/office/drawing/2014/main" id="{C3240DCC-8825-CDBA-623E-BBBA8AA0EA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3599" y="863550"/>
            <a:ext cx="819885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/>
            <a:r>
              <a:rPr lang="en-US" sz="1400" dirty="0">
                <a:solidFill>
                  <a:schemeClr val="tx1"/>
                </a:solidFill>
              </a:rPr>
              <a:t>Task 3.1: monitoring privacy with auditor tools in ITS – translating privacy guarantees to practical risks </a:t>
            </a:r>
            <a:r>
              <a:rPr lang="en-US" sz="1400" b="1" i="1" dirty="0">
                <a:solidFill>
                  <a:schemeClr val="accent4">
                    <a:lumMod val="50000"/>
                  </a:schemeClr>
                </a:solidFill>
              </a:rPr>
              <a:t>[</a:t>
            </a:r>
            <a:r>
              <a:rPr lang="en" sz="1400" b="1" i="1" dirty="0">
                <a:solidFill>
                  <a:schemeClr val="accent4">
                    <a:lumMod val="50000"/>
                  </a:schemeClr>
                </a:solidFill>
              </a:rPr>
              <a:t>USENIX Security’25]</a:t>
            </a:r>
            <a:endParaRPr sz="1400" i="1" dirty="0">
              <a:solidFill>
                <a:schemeClr val="accent4">
                  <a:lumMod val="50000"/>
                </a:schemeClr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-US" sz="5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 dirty="0">
                <a:solidFill>
                  <a:schemeClr val="tx1"/>
                </a:solidFill>
              </a:rPr>
              <a:t>User-level audit: canary injection for DP auditing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 dirty="0">
                <a:solidFill>
                  <a:schemeClr val="tx1"/>
                </a:solidFill>
              </a:rPr>
              <a:t>Site-level audit: private set intersection (PSI) for leakage auditing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 dirty="0">
                <a:solidFill>
                  <a:schemeClr val="tx1"/>
                </a:solidFill>
              </a:rPr>
              <a:t>PP-FL (both DP and non-DP) and anonymization can be audited</a:t>
            </a:r>
          </a:p>
          <a:p>
            <a:pPr marL="5969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dirty="0">
                <a:solidFill>
                  <a:schemeClr val="tx1"/>
                </a:solidFill>
              </a:rPr>
              <a:t>	by adapting inference attacks. 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" sz="1400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>
                <a:solidFill>
                  <a:schemeClr val="tx1"/>
                </a:solidFill>
              </a:rPr>
              <a:t>Task 3.2: user studies (after IRB approval) for privacy policy 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 dirty="0">
                <a:solidFill>
                  <a:schemeClr val="tx1"/>
                </a:solidFill>
              </a:rPr>
              <a:t>       compliance in ITS, e.g., GDPR, CCPA, ISO/IEC 27701, </a:t>
            </a:r>
          </a:p>
          <a:p>
            <a:pPr marL="114300" indent="0">
              <a:buNone/>
            </a:pPr>
            <a:r>
              <a:rPr lang="en" sz="1400" dirty="0">
                <a:solidFill>
                  <a:schemeClr val="tx1"/>
                </a:solidFill>
              </a:rPr>
              <a:t>       NIST privacy </a:t>
            </a:r>
            <a:r>
              <a:rPr lang="en-US" sz="1400" b="1" i="1" dirty="0">
                <a:solidFill>
                  <a:schemeClr val="accent4">
                    <a:lumMod val="50000"/>
                  </a:schemeClr>
                </a:solidFill>
              </a:rPr>
              <a:t>[USENIX Security’24b]</a:t>
            </a:r>
            <a:endParaRPr lang="en" sz="1400" dirty="0">
              <a:solidFill>
                <a:schemeClr val="tx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sz="500" dirty="0">
              <a:solidFill>
                <a:schemeClr val="tx1"/>
              </a:solidFill>
            </a:endParaRPr>
          </a:p>
          <a:p>
            <a:pPr lvl="1"/>
            <a:r>
              <a:rPr lang="en" sz="1200" dirty="0">
                <a:solidFill>
                  <a:schemeClr val="tx1"/>
                </a:solidFill>
              </a:rPr>
              <a:t>Data retention policy compliance</a:t>
            </a:r>
          </a:p>
          <a:p>
            <a:pPr lvl="1"/>
            <a:r>
              <a:rPr lang="en" sz="1200" dirty="0">
                <a:solidFill>
                  <a:schemeClr val="tx1"/>
                </a:solidFill>
              </a:rPr>
              <a:t>PPT recommenation assessment</a:t>
            </a:r>
          </a:p>
          <a:p>
            <a:pPr lvl="1"/>
            <a:r>
              <a:rPr lang="en" sz="1200" dirty="0">
                <a:solidFill>
                  <a:schemeClr val="tx1"/>
                </a:solidFill>
              </a:rPr>
              <a:t>Users’ privacy preferences and policy compliance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P</a:t>
            </a:r>
            <a:r>
              <a:rPr lang="en" sz="1200" dirty="0">
                <a:solidFill>
                  <a:schemeClr val="tx1"/>
                </a:solidFill>
              </a:rPr>
              <a:t>rivacy auditing and compliance</a:t>
            </a:r>
            <a:endParaRPr sz="12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B9A451-2D3A-AF69-7D37-0DF1C3221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665" y="1266587"/>
            <a:ext cx="2476034" cy="2399892"/>
          </a:xfrm>
          <a:prstGeom prst="rect">
            <a:avLst/>
          </a:prstGeom>
        </p:spPr>
      </p:pic>
      <p:pic>
        <p:nvPicPr>
          <p:cNvPr id="1026" name="Picture 2" descr="Different User Research Methods: Pros, Cons, and Tips for Using Them">
            <a:extLst>
              <a:ext uri="{FF2B5EF4-FFF2-40B4-BE49-F238E27FC236}">
                <a16:creationId xmlns:a16="http://schemas.microsoft.com/office/drawing/2014/main" id="{F1AABEBF-9DE1-6227-AD97-7094A6362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094" y="3705719"/>
            <a:ext cx="1430482" cy="107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8B1063-F9E9-AAEA-885F-56175ABC07B8}"/>
              </a:ext>
            </a:extLst>
          </p:cNvPr>
          <p:cNvSpPr txBox="1"/>
          <p:nvPr/>
        </p:nvSpPr>
        <p:spPr>
          <a:xfrm>
            <a:off x="4053529" y="4774848"/>
            <a:ext cx="32899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Image source: https://blog.codelitt.com/different-user-research-methods-pros-cons-and-tips-for-using-them/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>
            <a:spLocks noGrp="1"/>
          </p:cNvSpPr>
          <p:nvPr>
            <p:ph type="title"/>
          </p:nvPr>
        </p:nvSpPr>
        <p:spPr>
          <a:xfrm>
            <a:off x="311700" y="18871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Thrust 4: Cyberinfrastructure Design</a:t>
            </a:r>
            <a:endParaRPr sz="2000" dirty="0"/>
          </a:p>
        </p:txBody>
      </p:sp>
      <p:sp>
        <p:nvSpPr>
          <p:cNvPr id="168" name="Google Shape;168;p30"/>
          <p:cNvSpPr txBox="1">
            <a:spLocks noGrp="1"/>
          </p:cNvSpPr>
          <p:nvPr>
            <p:ph type="body" idx="1"/>
          </p:nvPr>
        </p:nvSpPr>
        <p:spPr>
          <a:xfrm>
            <a:off x="283991" y="651096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>
                <a:solidFill>
                  <a:schemeClr val="tx1"/>
                </a:solidFill>
              </a:rPr>
              <a:t>Goal: design a </a:t>
            </a:r>
            <a:r>
              <a:rPr lang="en" sz="1400" b="1" dirty="0">
                <a:solidFill>
                  <a:schemeClr val="tx1"/>
                </a:solidFill>
              </a:rPr>
              <a:t>streamlined cyberinfrastructure (CI)</a:t>
            </a:r>
            <a:r>
              <a:rPr lang="en" sz="1400" dirty="0">
                <a:solidFill>
                  <a:schemeClr val="tx1"/>
                </a:solidFill>
              </a:rPr>
              <a:t> for our </a:t>
            </a:r>
            <a:r>
              <a:rPr lang="en" sz="1400" b="1" dirty="0">
                <a:solidFill>
                  <a:srgbClr val="C00000"/>
                </a:solidFill>
              </a:rPr>
              <a:t>PAIR </a:t>
            </a:r>
            <a:r>
              <a:rPr lang="en" sz="1400" dirty="0">
                <a:solidFill>
                  <a:schemeClr val="tx1"/>
                </a:solidFill>
              </a:rPr>
              <a:t>platform to</a:t>
            </a:r>
            <a:endParaRPr sz="14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" sz="5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Support effective data collection, computation, storage, and sharing among agencies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Preserving privacy and ensuring scalable performance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Materialize the translational PPTs proposed in this project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Fully software based, highly scalable according to the available resources</a:t>
            </a:r>
            <a:br>
              <a:rPr lang="en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79028-0914-597A-E68C-F6B17A8FCF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DFAC3C-D627-4BF3-92C0-3B9927B3F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48" y="2619869"/>
            <a:ext cx="7947810" cy="2478599"/>
          </a:xfrm>
          <a:prstGeom prst="rect">
            <a:avLst/>
          </a:prstGeom>
        </p:spPr>
      </p:pic>
      <p:sp>
        <p:nvSpPr>
          <p:cNvPr id="4" name="Google Shape;174;p31">
            <a:extLst>
              <a:ext uri="{FF2B5EF4-FFF2-40B4-BE49-F238E27FC236}">
                <a16:creationId xmlns:a16="http://schemas.microsoft.com/office/drawing/2014/main" id="{15E43F72-E40E-04AF-962A-74E34E10903F}"/>
              </a:ext>
            </a:extLst>
          </p:cNvPr>
          <p:cNvSpPr txBox="1">
            <a:spLocks/>
          </p:cNvSpPr>
          <p:nvPr/>
        </p:nvSpPr>
        <p:spPr>
          <a:xfrm>
            <a:off x="339409" y="1958496"/>
            <a:ext cx="8520600" cy="8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400" dirty="0">
                <a:solidFill>
                  <a:schemeClr val="tx1"/>
                </a:solidFill>
              </a:rPr>
              <a:t>Depending on whether a cloud infrastructure will be included in the design or not, the CI can be </a:t>
            </a:r>
            <a:r>
              <a:rPr lang="en-US" sz="1400" b="1" dirty="0">
                <a:solidFill>
                  <a:schemeClr val="tx1"/>
                </a:solidFill>
              </a:rPr>
              <a:t>cloud-centered</a:t>
            </a:r>
            <a:r>
              <a:rPr lang="en-US" sz="1400" dirty="0">
                <a:solidFill>
                  <a:schemeClr val="tx1"/>
                </a:solidFill>
              </a:rPr>
              <a:t> or </a:t>
            </a:r>
            <a:r>
              <a:rPr lang="en-US" sz="1400" b="1" dirty="0">
                <a:solidFill>
                  <a:schemeClr val="tx1"/>
                </a:solidFill>
              </a:rPr>
              <a:t>site-centered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Key Components of the Proposed CI</a:t>
            </a:r>
            <a:endParaRPr sz="2000" dirty="0"/>
          </a:p>
        </p:txBody>
      </p:sp>
      <p:sp>
        <p:nvSpPr>
          <p:cNvPr id="181" name="Google Shape;181;p32"/>
          <p:cNvSpPr txBox="1">
            <a:spLocks noGrp="1"/>
          </p:cNvSpPr>
          <p:nvPr>
            <p:ph type="body" idx="1"/>
          </p:nvPr>
        </p:nvSpPr>
        <p:spPr>
          <a:xfrm>
            <a:off x="311700" y="860975"/>
            <a:ext cx="8520600" cy="38274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sz="1400" dirty="0">
                <a:solidFill>
                  <a:schemeClr val="tx1"/>
                </a:solidFill>
              </a:rPr>
              <a:t>Hybrid Databases </a:t>
            </a:r>
            <a:r>
              <a:rPr lang="en-US" sz="1400" b="1" i="1" dirty="0">
                <a:solidFill>
                  <a:schemeClr val="accent4">
                    <a:lumMod val="50000"/>
                  </a:schemeClr>
                </a:solidFill>
              </a:rPr>
              <a:t>[ICII’18 Best Paper Award]</a:t>
            </a:r>
            <a:endParaRPr sz="14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Scalable Time-Series Database (TSDB) + relational DB</a:t>
            </a:r>
            <a:endParaRPr sz="1200" dirty="0">
              <a:solidFill>
                <a:schemeClr val="tx1"/>
              </a:solidFill>
            </a:endParaRPr>
          </a:p>
          <a:p>
            <a:endParaRPr lang="en" sz="1400" dirty="0">
              <a:solidFill>
                <a:schemeClr val="tx1"/>
              </a:solidFill>
            </a:endParaRPr>
          </a:p>
          <a:p>
            <a:r>
              <a:rPr lang="en" sz="1400" dirty="0">
                <a:solidFill>
                  <a:schemeClr val="tx1"/>
                </a:solidFill>
              </a:rPr>
              <a:t>Elastic Real-Time Processing Framework</a:t>
            </a:r>
            <a:endParaRPr sz="1400" dirty="0">
              <a:solidFill>
                <a:schemeClr val="tx1"/>
              </a:solidFill>
            </a:endParaRPr>
          </a:p>
          <a:p>
            <a:pPr lvl="1"/>
            <a:r>
              <a:rPr lang="en" sz="1200" dirty="0">
                <a:solidFill>
                  <a:schemeClr val="tx1"/>
                </a:solidFill>
              </a:rPr>
              <a:t>Apache Kafka for “at least once” delivery guarantee</a:t>
            </a:r>
            <a:endParaRPr sz="1200" dirty="0">
              <a:solidFill>
                <a:schemeClr val="tx1"/>
              </a:solidFill>
            </a:endParaRPr>
          </a:p>
          <a:p>
            <a:pPr lvl="1"/>
            <a:r>
              <a:rPr lang="en" sz="1200" dirty="0">
                <a:solidFill>
                  <a:schemeClr val="tx1"/>
                </a:solidFill>
              </a:rPr>
              <a:t>Apache Spark for real-time and parallel processing</a:t>
            </a:r>
            <a:endParaRPr sz="1200" dirty="0">
              <a:solidFill>
                <a:schemeClr val="tx1"/>
              </a:solidFill>
            </a:endParaRPr>
          </a:p>
          <a:p>
            <a:endParaRPr lang="en" sz="1400" dirty="0">
              <a:solidFill>
                <a:schemeClr val="tx1"/>
              </a:solidFill>
            </a:endParaRPr>
          </a:p>
          <a:p>
            <a:r>
              <a:rPr lang="en" sz="1400" dirty="0">
                <a:solidFill>
                  <a:schemeClr val="tx1"/>
                </a:solidFill>
              </a:rPr>
              <a:t>Composite Resource Management Framework </a:t>
            </a:r>
            <a:r>
              <a:rPr lang="en-US" sz="1400" b="1" i="1" dirty="0">
                <a:solidFill>
                  <a:schemeClr val="accent4">
                    <a:lumMod val="50000"/>
                  </a:schemeClr>
                </a:solidFill>
              </a:rPr>
              <a:t>[TECS’23, RTSS’19 Outstanding Paper Award]</a:t>
            </a:r>
            <a:endParaRPr sz="1400" dirty="0">
              <a:solidFill>
                <a:schemeClr val="tx1"/>
              </a:solidFill>
            </a:endParaRPr>
          </a:p>
          <a:p>
            <a:pPr lvl="1"/>
            <a:r>
              <a:rPr lang="en" sz="1200" dirty="0">
                <a:solidFill>
                  <a:schemeClr val="tx1"/>
                </a:solidFill>
              </a:rPr>
              <a:t>Enable network and computing resource isolation among data sharing tasks</a:t>
            </a:r>
            <a:endParaRPr sz="1200" dirty="0">
              <a:solidFill>
                <a:schemeClr val="tx1"/>
              </a:solidFill>
            </a:endParaRPr>
          </a:p>
          <a:p>
            <a:pPr lvl="1"/>
            <a:r>
              <a:rPr lang="en" sz="1200" dirty="0">
                <a:solidFill>
                  <a:schemeClr val="tx1"/>
                </a:solidFill>
              </a:rPr>
              <a:t>Provide timing and privacy assurance</a:t>
            </a:r>
            <a:endParaRPr sz="1200" dirty="0">
              <a:solidFill>
                <a:schemeClr val="tx1"/>
              </a:solidFill>
            </a:endParaRPr>
          </a:p>
          <a:p>
            <a:endParaRPr lang="en" sz="1400" dirty="0">
              <a:solidFill>
                <a:schemeClr val="tx1"/>
              </a:solidFill>
            </a:endParaRPr>
          </a:p>
          <a:p>
            <a:r>
              <a:rPr lang="en" sz="1400" dirty="0">
                <a:solidFill>
                  <a:schemeClr val="tx1"/>
                </a:solidFill>
              </a:rPr>
              <a:t>TEE-as-a-Resource for Additional Protection</a:t>
            </a:r>
            <a:endParaRPr sz="1400" dirty="0">
              <a:solidFill>
                <a:schemeClr val="tx1"/>
              </a:solidFill>
            </a:endParaRPr>
          </a:p>
          <a:p>
            <a:pPr lvl="1"/>
            <a:r>
              <a:rPr lang="en" sz="1200" dirty="0">
                <a:solidFill>
                  <a:schemeClr val="tx1"/>
                </a:solidFill>
              </a:rPr>
              <a:t>Quantify the privacy requirement and the estimated computational overhead for the ITS data and its processing for different subtasks of the adopted PPT</a:t>
            </a:r>
            <a:endParaRPr sz="1200" dirty="0">
              <a:solidFill>
                <a:schemeClr val="tx1"/>
              </a:solidFill>
            </a:endParaRPr>
          </a:p>
          <a:p>
            <a:pPr lvl="1"/>
            <a:r>
              <a:rPr lang="en" sz="1200" dirty="0">
                <a:solidFill>
                  <a:schemeClr val="tx1"/>
                </a:solidFill>
              </a:rPr>
              <a:t>Assign a “TEE Score” to each PPT by considering an optimal privacy-resource tradeoff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CC419C-6E84-BCE1-82C6-71CD96E11F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>
            <a:spLocks noGrp="1"/>
          </p:cNvSpPr>
          <p:nvPr>
            <p:ph type="title"/>
          </p:nvPr>
        </p:nvSpPr>
        <p:spPr>
          <a:xfrm>
            <a:off x="273600" y="11598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Deployment, Integration and Evaluation</a:t>
            </a:r>
            <a:endParaRPr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B0CAEC-48E5-E5FD-7019-3F40E11BBC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3" name="Google Shape;187;p33">
            <a:extLst>
              <a:ext uri="{FF2B5EF4-FFF2-40B4-BE49-F238E27FC236}">
                <a16:creationId xmlns:a16="http://schemas.microsoft.com/office/drawing/2014/main" id="{F58F62FE-6BAC-2969-7757-BD97573613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6208" y="591698"/>
            <a:ext cx="8520600" cy="43681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 dirty="0">
                <a:solidFill>
                  <a:schemeClr val="tx1"/>
                </a:solidFill>
              </a:rPr>
              <a:t>Datasets, testbeds and use cases</a:t>
            </a:r>
            <a:endParaRPr sz="1400" dirty="0">
              <a:solidFill>
                <a:schemeClr val="tx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Seattle department of transportation (SDOT) – a </a:t>
            </a:r>
            <a:r>
              <a:rPr lang="en" sz="1200" b="1" dirty="0">
                <a:solidFill>
                  <a:schemeClr val="tx1"/>
                </a:solidFill>
              </a:rPr>
              <a:t>data provider </a:t>
            </a:r>
            <a:r>
              <a:rPr lang="en" sz="1200" dirty="0">
                <a:solidFill>
                  <a:schemeClr val="tx1"/>
                </a:solidFill>
              </a:rPr>
              <a:t>and </a:t>
            </a:r>
            <a:r>
              <a:rPr lang="en" sz="1200" b="1" dirty="0">
                <a:solidFill>
                  <a:schemeClr val="tx1"/>
                </a:solidFill>
              </a:rPr>
              <a:t>early adopter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University transportation centers (UTCs) – an </a:t>
            </a:r>
            <a:r>
              <a:rPr lang="en" sz="1200" b="1" dirty="0">
                <a:solidFill>
                  <a:schemeClr val="tx1"/>
                </a:solidFill>
              </a:rPr>
              <a:t>early adopter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Connected vehicles (CV) testbeds – two testbeds will be the </a:t>
            </a:r>
            <a:r>
              <a:rPr lang="en" sz="1200" b="1" dirty="0">
                <a:solidFill>
                  <a:schemeClr val="tx1"/>
                </a:solidFill>
              </a:rPr>
              <a:t>data</a:t>
            </a:r>
            <a:r>
              <a:rPr lang="en" sz="1200" dirty="0">
                <a:solidFill>
                  <a:schemeClr val="tx1"/>
                </a:solidFill>
              </a:rPr>
              <a:t> and </a:t>
            </a:r>
            <a:r>
              <a:rPr lang="en" sz="1200" b="1" dirty="0">
                <a:solidFill>
                  <a:schemeClr val="tx1"/>
                </a:solidFill>
              </a:rPr>
              <a:t>use-case providers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Naturalistic driving dataset (FHWA) – </a:t>
            </a:r>
            <a:r>
              <a:rPr lang="en" sz="1200" b="1" dirty="0">
                <a:solidFill>
                  <a:schemeClr val="tx1"/>
                </a:solidFill>
              </a:rPr>
              <a:t>use cases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Cuebiq mobility dataset – a </a:t>
            </a:r>
            <a:r>
              <a:rPr lang="en" sz="1200" b="1" dirty="0">
                <a:solidFill>
                  <a:schemeClr val="tx1"/>
                </a:solidFill>
              </a:rPr>
              <a:t>data</a:t>
            </a:r>
            <a:r>
              <a:rPr lang="en" sz="1200" dirty="0">
                <a:solidFill>
                  <a:schemeClr val="tx1"/>
                </a:solidFill>
              </a:rPr>
              <a:t> and </a:t>
            </a:r>
            <a:r>
              <a:rPr lang="en" sz="1200" b="1" dirty="0">
                <a:solidFill>
                  <a:schemeClr val="tx1"/>
                </a:solidFill>
              </a:rPr>
              <a:t>user-case provider</a:t>
            </a:r>
            <a:br>
              <a:rPr lang="en" sz="1200" dirty="0">
                <a:solidFill>
                  <a:schemeClr val="tx1"/>
                </a:solidFill>
              </a:rPr>
            </a:br>
            <a:endParaRPr sz="12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System integration and evaluation</a:t>
            </a:r>
            <a:endParaRPr sz="1400" dirty="0">
              <a:solidFill>
                <a:schemeClr val="tx1"/>
              </a:solidFill>
            </a:endParaRP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Integrating cyberinfrastructure (CI) into ITS via cloud services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Connecting operational ITS (e.g., CV testbeds) with the CI and stream the collected ITS data in real time</a:t>
            </a:r>
          </a:p>
          <a:p>
            <a:pPr lvl="1"/>
            <a:r>
              <a:rPr lang="en" sz="1200" b="1" dirty="0">
                <a:solidFill>
                  <a:schemeClr val="tx1"/>
                </a:solidFill>
              </a:rPr>
              <a:t>System evaluation</a:t>
            </a:r>
            <a:r>
              <a:rPr lang="en" sz="1200" dirty="0">
                <a:solidFill>
                  <a:schemeClr val="tx1"/>
                </a:solidFill>
              </a:rPr>
              <a:t>: throughput, latency, read/write speeds of the hybrid databases, response time, etc. </a:t>
            </a:r>
            <a:br>
              <a:rPr lang="en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End-to-end privacy verification and evaluations</a:t>
            </a:r>
            <a:endParaRPr sz="1400" dirty="0">
              <a:solidFill>
                <a:schemeClr val="tx1"/>
              </a:solidFill>
            </a:endParaRPr>
          </a:p>
          <a:p>
            <a:pPr lvl="1"/>
            <a:r>
              <a:rPr lang="en" sz="1200" dirty="0">
                <a:solidFill>
                  <a:schemeClr val="tx1"/>
                </a:solidFill>
              </a:rPr>
              <a:t>Provable privacy guarantees (e.g., DP, MPC/FHE)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P</a:t>
            </a:r>
            <a:r>
              <a:rPr lang="en" sz="1200" dirty="0">
                <a:solidFill>
                  <a:schemeClr val="tx1"/>
                </a:solidFill>
              </a:rPr>
              <a:t>rivacy audits at both user and site levels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User studies for privacy policy compliance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TEE-based additional protection for certain computation</a:t>
            </a:r>
          </a:p>
          <a:p>
            <a:pPr lvl="1"/>
            <a:r>
              <a:rPr lang="en-US" sz="1200" b="1" dirty="0">
                <a:solidFill>
                  <a:schemeClr val="tx1"/>
                </a:solidFill>
              </a:rPr>
              <a:t>Metrics</a:t>
            </a:r>
            <a:r>
              <a:rPr lang="en-US" sz="1200" dirty="0">
                <a:solidFill>
                  <a:schemeClr val="tx1"/>
                </a:solidFill>
              </a:rPr>
              <a:t>: utility (e.g., model accuracy, data utility loss), overheads (e.g., throughput, latency, memory consumption), runtime for privacy verification, among others  </a:t>
            </a:r>
            <a:endParaRPr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>
            <a:spLocks noGrp="1"/>
          </p:cNvSpPr>
          <p:nvPr>
            <p:ph type="title"/>
          </p:nvPr>
        </p:nvSpPr>
        <p:spPr>
          <a:xfrm>
            <a:off x="273600" y="18525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Project Management and Collaboration</a:t>
            </a:r>
            <a:endParaRPr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BE86DF-323E-FC5E-B007-5BD2A5F4E6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4D9C1-702C-CBB2-782F-3AA016AFF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87" y="843305"/>
            <a:ext cx="7153535" cy="2395625"/>
          </a:xfrm>
          <a:prstGeom prst="rect">
            <a:avLst/>
          </a:prstGeom>
        </p:spPr>
      </p:pic>
      <p:sp>
        <p:nvSpPr>
          <p:cNvPr id="6" name="Google Shape;187;p33">
            <a:extLst>
              <a:ext uri="{FF2B5EF4-FFF2-40B4-BE49-F238E27FC236}">
                <a16:creationId xmlns:a16="http://schemas.microsoft.com/office/drawing/2014/main" id="{24E71942-AA42-BFC2-493F-7D38DF3AC9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5382" y="3493893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 dirty="0">
                <a:solidFill>
                  <a:schemeClr val="tx1"/>
                </a:solidFill>
              </a:rPr>
              <a:t>Working closely with FHWA and dataset, testbed, and use-case (DTU) providers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 dirty="0">
                <a:solidFill>
                  <a:schemeClr val="tx1"/>
                </a:solidFill>
              </a:rPr>
              <a:t>All team members meet monthly via Zoom for synchronizing the research progress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 dirty="0">
                <a:solidFill>
                  <a:schemeClr val="tx1"/>
                </a:solidFill>
              </a:rPr>
              <a:t>Privacy subgroup (YH, BW, MM) will meet with the ITS subgroup (JB, AK) biweekly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 dirty="0">
                <a:solidFill>
                  <a:schemeClr val="tx1"/>
                </a:solidFill>
              </a:rPr>
              <a:t>Lead PI (YH) will meet with JB (ITS) and SH (systems) to co-design the CI and integrate it with ITS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 dirty="0">
                <a:solidFill>
                  <a:schemeClr val="tx1"/>
                </a:solidFill>
              </a:rPr>
              <a:t>Privacy subgroup meets with external collaborators on user studies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 dirty="0">
                <a:solidFill>
                  <a:schemeClr val="tx1"/>
                </a:solidFill>
              </a:rPr>
              <a:t>All teams meet periodically for education and outreach activities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" sz="1200" dirty="0">
                <a:solidFill>
                  <a:schemeClr val="tx1"/>
                </a:solidFill>
              </a:rPr>
            </a:br>
            <a:endParaRPr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200" dirty="0"/>
              <a:t>Broader Impacts</a:t>
            </a:r>
            <a:endParaRPr sz="2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36"/>
          <p:cNvSpPr txBox="1">
            <a:spLocks noGrp="1"/>
          </p:cNvSpPr>
          <p:nvPr>
            <p:ph type="body" idx="1"/>
          </p:nvPr>
        </p:nvSpPr>
        <p:spPr>
          <a:xfrm>
            <a:off x="311700" y="107338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23850" algn="l" rtl="0">
              <a:spcAft>
                <a:spcPts val="0"/>
              </a:spcAft>
              <a:buSzPts val="1500"/>
              <a:buChar char="●"/>
            </a:pPr>
            <a:r>
              <a:rPr lang="en" sz="1400" b="1" dirty="0">
                <a:solidFill>
                  <a:schemeClr val="tx1"/>
                </a:solidFill>
              </a:rPr>
              <a:t>Data Sharing Impact (</a:t>
            </a:r>
            <a:r>
              <a:rPr lang="en" sz="1400" b="1" dirty="0">
                <a:solidFill>
                  <a:srgbClr val="C00000"/>
                </a:solidFill>
              </a:rPr>
              <a:t>PAIR</a:t>
            </a:r>
            <a:r>
              <a:rPr lang="en" sz="1400" b="1" dirty="0">
                <a:solidFill>
                  <a:schemeClr val="tx1"/>
                </a:solidFill>
              </a:rPr>
              <a:t> Platform)</a:t>
            </a:r>
            <a:endParaRPr sz="1400" b="1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Enables </a:t>
            </a:r>
            <a:r>
              <a:rPr lang="en" sz="1200" b="1" dirty="0">
                <a:solidFill>
                  <a:schemeClr val="tx1"/>
                </a:solidFill>
              </a:rPr>
              <a:t>privacy-preserving ITS data sharing</a:t>
            </a:r>
            <a:endParaRPr sz="1200" b="1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Encourage contributions from public agencies, industry, and individuals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Establish a </a:t>
            </a:r>
            <a:r>
              <a:rPr lang="en" sz="1200" b="1" dirty="0">
                <a:solidFill>
                  <a:schemeClr val="tx1"/>
                </a:solidFill>
              </a:rPr>
              <a:t>new standard for responsible data sharing</a:t>
            </a:r>
            <a:r>
              <a:rPr lang="en" sz="1200" dirty="0">
                <a:solidFill>
                  <a:schemeClr val="tx1"/>
                </a:solidFill>
              </a:rPr>
              <a:t> in smart cities and science/engineering domains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endParaRPr sz="1200" b="1" dirty="0">
              <a:solidFill>
                <a:schemeClr val="tx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400" b="1" dirty="0">
                <a:solidFill>
                  <a:schemeClr val="tx1"/>
                </a:solidFill>
              </a:rPr>
              <a:t>Societal Impact</a:t>
            </a:r>
            <a:endParaRPr sz="1400" b="1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b="1" dirty="0">
                <a:solidFill>
                  <a:schemeClr val="tx1"/>
                </a:solidFill>
              </a:rPr>
              <a:t>Enhanced privacy &amp; trust</a:t>
            </a:r>
            <a:r>
              <a:rPr lang="en" sz="1200" dirty="0">
                <a:solidFill>
                  <a:schemeClr val="tx1"/>
                </a:solidFill>
              </a:rPr>
              <a:t> – protect personal data and travel behaviors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b="1" dirty="0">
                <a:solidFill>
                  <a:schemeClr val="tx1"/>
                </a:solidFill>
              </a:rPr>
              <a:t>Regulatory compliance</a:t>
            </a:r>
            <a:r>
              <a:rPr lang="en" sz="1200" dirty="0">
                <a:solidFill>
                  <a:schemeClr val="tx1"/>
                </a:solidFill>
              </a:rPr>
              <a:t> – align with GDPR and data protection laws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b="1" dirty="0">
                <a:solidFill>
                  <a:schemeClr val="tx1"/>
                </a:solidFill>
              </a:rPr>
              <a:t>Public health &amp; safety</a:t>
            </a:r>
            <a:r>
              <a:rPr lang="en" sz="1200" dirty="0">
                <a:solidFill>
                  <a:schemeClr val="tx1"/>
                </a:solidFill>
              </a:rPr>
              <a:t> – improve emergency response and road safety using sanitized data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endParaRPr sz="1200" dirty="0">
              <a:solidFill>
                <a:schemeClr val="tx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400" b="1" dirty="0">
                <a:solidFill>
                  <a:schemeClr val="tx1"/>
                </a:solidFill>
              </a:rPr>
              <a:t>Scientific Impact</a:t>
            </a:r>
            <a:endParaRPr sz="1400" b="1" dirty="0">
              <a:solidFill>
                <a:schemeClr val="tx1"/>
              </a:solidFill>
            </a:endParaRPr>
          </a:p>
          <a:p>
            <a:pPr marL="914400" lvl="1" indent="-307975" algn="l" rtl="0">
              <a:spcBef>
                <a:spcPts val="0"/>
              </a:spcBef>
              <a:spcAft>
                <a:spcPts val="0"/>
              </a:spcAft>
              <a:buSzPts val="1250"/>
              <a:buChar char="○"/>
            </a:pPr>
            <a:r>
              <a:rPr lang="en" sz="1200" b="1" dirty="0">
                <a:solidFill>
                  <a:schemeClr val="tx1"/>
                </a:solidFill>
              </a:rPr>
              <a:t>Advance of Privacy-Preserving Techniques (PPTs)</a:t>
            </a:r>
            <a:r>
              <a:rPr lang="en" sz="1200" dirty="0">
                <a:solidFill>
                  <a:schemeClr val="tx1"/>
                </a:solidFill>
              </a:rPr>
              <a:t> – balance utility, privacy, and efficiency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07975" algn="l" rtl="0">
              <a:spcBef>
                <a:spcPts val="0"/>
              </a:spcBef>
              <a:spcAft>
                <a:spcPts val="0"/>
              </a:spcAft>
              <a:buSzPts val="1250"/>
              <a:buChar char="○"/>
            </a:pPr>
            <a:r>
              <a:rPr lang="en" sz="1200" b="1" dirty="0">
                <a:solidFill>
                  <a:schemeClr val="tx1"/>
                </a:solidFill>
              </a:rPr>
              <a:t>Scalable real-time systems</a:t>
            </a:r>
            <a:r>
              <a:rPr lang="en" sz="1200" dirty="0">
                <a:solidFill>
                  <a:schemeClr val="tx1"/>
                </a:solidFill>
              </a:rPr>
              <a:t> – handle large ITS data without compromising performance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07975" algn="l" rtl="0">
              <a:spcBef>
                <a:spcPts val="0"/>
              </a:spcBef>
              <a:spcAft>
                <a:spcPts val="0"/>
              </a:spcAft>
              <a:buSzPts val="1250"/>
              <a:buChar char="○"/>
            </a:pPr>
            <a:r>
              <a:rPr lang="en" sz="1200" b="1" dirty="0">
                <a:solidFill>
                  <a:schemeClr val="tx1"/>
                </a:solidFill>
              </a:rPr>
              <a:t>Standardization</a:t>
            </a:r>
            <a:r>
              <a:rPr lang="en" sz="1200" dirty="0">
                <a:solidFill>
                  <a:schemeClr val="tx1"/>
                </a:solidFill>
              </a:rPr>
              <a:t> – develop interoperable PPT protocols for ITS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07975" algn="l" rtl="0">
              <a:spcBef>
                <a:spcPts val="0"/>
              </a:spcBef>
              <a:spcAft>
                <a:spcPts val="0"/>
              </a:spcAft>
              <a:buSzPts val="1250"/>
              <a:buChar char="○"/>
            </a:pPr>
            <a:r>
              <a:rPr lang="en" sz="1200" b="1" dirty="0">
                <a:solidFill>
                  <a:schemeClr val="tx1"/>
                </a:solidFill>
              </a:rPr>
              <a:t>Interdisciplinary collaboration</a:t>
            </a:r>
            <a:r>
              <a:rPr lang="en" sz="1200" dirty="0">
                <a:solidFill>
                  <a:schemeClr val="tx1"/>
                </a:solidFill>
              </a:rPr>
              <a:t> – connect AI, privacy, cybersecurity, systems, and transportation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D20EDD-0D65-21D7-159A-A1048B341E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200" dirty="0"/>
              <a:t>Broader Impacts</a:t>
            </a:r>
            <a:endParaRPr sz="2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1" name="Google Shape;211;p37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400" b="1" dirty="0">
                <a:solidFill>
                  <a:schemeClr val="tx1"/>
                </a:solidFill>
              </a:rPr>
              <a:t>Education Impact</a:t>
            </a:r>
            <a:endParaRPr sz="1400" b="1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Benefits </a:t>
            </a:r>
            <a:r>
              <a:rPr lang="en" sz="1200" b="1" dirty="0">
                <a:solidFill>
                  <a:schemeClr val="tx1"/>
                </a:solidFill>
              </a:rPr>
              <a:t>graduate students</a:t>
            </a:r>
            <a:r>
              <a:rPr lang="en" sz="1200" dirty="0">
                <a:solidFill>
                  <a:schemeClr val="tx1"/>
                </a:solidFill>
              </a:rPr>
              <a:t> at UConn, UW, IIT, and ISU, and professionals in privacy, transportation, cybersecurity, and AI/ML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Provides </a:t>
            </a:r>
            <a:r>
              <a:rPr lang="en" sz="1200" b="1" dirty="0">
                <a:solidFill>
                  <a:schemeClr val="tx1"/>
                </a:solidFill>
              </a:rPr>
              <a:t>undergraduate research opportunities</a:t>
            </a:r>
            <a:r>
              <a:rPr lang="en" sz="1200" dirty="0">
                <a:solidFill>
                  <a:schemeClr val="tx1"/>
                </a:solidFill>
              </a:rPr>
              <a:t> (data collection, analysis, modeling)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Curriculum integration</a:t>
            </a:r>
            <a:endParaRPr sz="1200" dirty="0">
              <a:solidFill>
                <a:schemeClr val="tx1"/>
              </a:solidFill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000" dirty="0">
                <a:solidFill>
                  <a:schemeClr val="tx1"/>
                </a:solidFill>
              </a:rPr>
              <a:t>“Data Security and Privacy” (PI Hong, PI Wang, and PI Mohammady); </a:t>
            </a:r>
            <a:endParaRPr sz="1000" dirty="0">
              <a:solidFill>
                <a:schemeClr val="tx1"/>
              </a:solidFill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000" dirty="0">
                <a:solidFill>
                  <a:schemeClr val="tx1"/>
                </a:solidFill>
              </a:rPr>
              <a:t>“Transportation Networks and Optimization” (PI Ban)</a:t>
            </a:r>
            <a:endParaRPr sz="1000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Broader K-12 outreach</a:t>
            </a:r>
            <a:endParaRPr sz="1200" dirty="0">
              <a:solidFill>
                <a:schemeClr val="tx1"/>
              </a:solidFill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000" dirty="0">
                <a:solidFill>
                  <a:schemeClr val="tx1"/>
                </a:solidFill>
              </a:rPr>
              <a:t>UW Discovery Day, IIT STEM Expo, UConn Explore Engineering, ISU Summer Camp</a:t>
            </a: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endParaRPr sz="1000" b="1" dirty="0">
              <a:solidFill>
                <a:schemeClr val="tx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400" b="1" dirty="0">
                <a:solidFill>
                  <a:schemeClr val="tx1"/>
                </a:solidFill>
              </a:rPr>
              <a:t>Outreach Impact</a:t>
            </a:r>
            <a:endParaRPr sz="1400" b="1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Addresses privacy barriers in ITS data sharing (e.g., video data, NYC OpenData context)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Supports adoption of PPTs by agencies and industry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Collaborates with partners to translate basic research into practice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Expected to transform data-sharing and privacy-protection practices in transportation systems</a:t>
            </a:r>
            <a:endParaRPr sz="1200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797F76-B374-2C96-B5A1-4DAAE7C469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E4F404-9434-D4A1-C214-AAB3FB9AAC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sp>
        <p:nvSpPr>
          <p:cNvPr id="3" name="内容占位符 18">
            <a:extLst>
              <a:ext uri="{FF2B5EF4-FFF2-40B4-BE49-F238E27FC236}">
                <a16:creationId xmlns:a16="http://schemas.microsoft.com/office/drawing/2014/main" id="{F48B9CCD-B156-1988-56B4-7789134AD9D5}"/>
              </a:ext>
            </a:extLst>
          </p:cNvPr>
          <p:cNvSpPr txBox="1">
            <a:spLocks/>
          </p:cNvSpPr>
          <p:nvPr/>
        </p:nvSpPr>
        <p:spPr>
          <a:xfrm>
            <a:off x="1485900" y="658600"/>
            <a:ext cx="6172200" cy="1913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  <a:defRPr/>
            </a:pPr>
            <a:r>
              <a:rPr lang="en-US" sz="3000" b="1" dirty="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rPr>
              <a:t>Thank You! </a:t>
            </a:r>
          </a:p>
          <a:p>
            <a:pPr marL="0" indent="0" algn="ctr">
              <a:buFont typeface="Arial"/>
              <a:buNone/>
              <a:defRPr/>
            </a:pPr>
            <a:r>
              <a:rPr lang="en-US" sz="3000" b="1" dirty="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rPr>
              <a:t>Questions?</a:t>
            </a:r>
          </a:p>
          <a:p>
            <a:pPr marL="0" indent="0" algn="ctr">
              <a:buFont typeface="Arial"/>
              <a:buNone/>
              <a:defRPr/>
            </a:pPr>
            <a:endParaRPr lang="en-US" sz="2100" b="1" dirty="0">
              <a:solidFill>
                <a:schemeClr val="tx1"/>
              </a:solidFill>
              <a:latin typeface="+mj-lt"/>
              <a:ea typeface="Calibri" charset="0"/>
              <a:cs typeface="Calibri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099064-8953-798C-AA28-2FFF53EE2FF3}"/>
              </a:ext>
            </a:extLst>
          </p:cNvPr>
          <p:cNvSpPr txBox="1"/>
          <p:nvPr/>
        </p:nvSpPr>
        <p:spPr>
          <a:xfrm>
            <a:off x="2286000" y="1922461"/>
            <a:ext cx="4572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Yuan Hong</a:t>
            </a:r>
          </a:p>
          <a:p>
            <a:pPr algn="ctr"/>
            <a:r>
              <a:rPr lang="en-US" sz="1200" dirty="0"/>
              <a:t>(on behalf of all the PIs)</a:t>
            </a:r>
          </a:p>
          <a:p>
            <a:pPr algn="ctr"/>
            <a:r>
              <a:rPr lang="en-US" sz="1400" dirty="0"/>
              <a:t>Email: </a:t>
            </a:r>
            <a:r>
              <a:rPr lang="en-US" sz="1400" dirty="0">
                <a:hlinkClick r:id="rId3"/>
              </a:rPr>
              <a:t>yuan.hong</a:t>
            </a:r>
            <a:r>
              <a:rPr lang="en-US" dirty="0">
                <a:hlinkClick r:id="rId3"/>
              </a:rPr>
              <a:t>@uconn.edu</a:t>
            </a:r>
            <a:endParaRPr lang="en-US" sz="1400" dirty="0"/>
          </a:p>
          <a:p>
            <a:pPr algn="ctr"/>
            <a:r>
              <a:rPr lang="en-US" sz="1400" dirty="0"/>
              <a:t>Webpage: </a:t>
            </a:r>
            <a:r>
              <a:rPr lang="en-US" dirty="0">
                <a:hlinkClick r:id="rId4"/>
              </a:rPr>
              <a:t>https://yhongcs.github.io/</a:t>
            </a:r>
            <a:endParaRPr lang="en-US" dirty="0"/>
          </a:p>
          <a:p>
            <a:pPr algn="ctr"/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862B65-86E3-838D-481B-6F403897EA82}"/>
              </a:ext>
            </a:extLst>
          </p:cNvPr>
          <p:cNvSpPr/>
          <p:nvPr/>
        </p:nvSpPr>
        <p:spPr>
          <a:xfrm>
            <a:off x="2844603" y="3178875"/>
            <a:ext cx="3454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b="1" dirty="0"/>
              <a:t>Acknowledgement of Support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4A4114C-6D7C-1758-34D5-1FFB01031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790" y="3498640"/>
            <a:ext cx="1840969" cy="119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56;p13">
            <a:extLst>
              <a:ext uri="{FF2B5EF4-FFF2-40B4-BE49-F238E27FC236}">
                <a16:creationId xmlns:a16="http://schemas.microsoft.com/office/drawing/2014/main" id="{F61EA9F8-88C0-EC8F-CAD5-594F788D245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1182" y="3668359"/>
            <a:ext cx="930905" cy="935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2315</Words>
  <Application>Microsoft Office PowerPoint</Application>
  <PresentationFormat>On-screen Show (16:9)</PresentationFormat>
  <Paragraphs>278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Roboto</vt:lpstr>
      <vt:lpstr>Simple Light</vt:lpstr>
      <vt:lpstr>PDaSP: Track 2: A Holistic Privacy Preserving Collaborative Data Sharing System for Intelligent Transportation</vt:lpstr>
      <vt:lpstr>Data in Transportation Systems</vt:lpstr>
      <vt:lpstr>Our Team</vt:lpstr>
      <vt:lpstr>Project Overview: PrivAcy PreservIng ShaRing Platform (PAIR)</vt:lpstr>
      <vt:lpstr>Thrust 1: Differentially Private Data Synthesis (Centralized) – Task 1.1</vt:lpstr>
      <vt:lpstr>Task 1.2: Privacy Preserving Federated Learning (Distributed)</vt:lpstr>
      <vt:lpstr>Thrust 2: Generalized PPT Platform and Benchmarks</vt:lpstr>
      <vt:lpstr>Task 2.1: Benchmark Repository for “PPTs + ITS Data/Applications”</vt:lpstr>
      <vt:lpstr>Task 2.2: PPT Recommendation System</vt:lpstr>
      <vt:lpstr>Task 2.3: Web Interface</vt:lpstr>
      <vt:lpstr>Thrust 3: Privacy Auditing and Policy Compliance</vt:lpstr>
      <vt:lpstr>Thrust 4: Cyberinfrastructure Design</vt:lpstr>
      <vt:lpstr>Key Components of the Proposed CI</vt:lpstr>
      <vt:lpstr>Deployment, Integration and Evaluation</vt:lpstr>
      <vt:lpstr>Project Management and Collaboration</vt:lpstr>
      <vt:lpstr>Broader Impacts </vt:lpstr>
      <vt:lpstr>Broader Impacts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Han, Song</cp:lastModifiedBy>
  <cp:revision>203</cp:revision>
  <dcterms:modified xsi:type="dcterms:W3CDTF">2026-03-15T19:49:18Z</dcterms:modified>
</cp:coreProperties>
</file>